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4"/>
  </p:sldMasterIdLst>
  <p:notesMasterIdLst>
    <p:notesMasterId r:id="rId16"/>
  </p:notesMasterIdLst>
  <p:handoutMasterIdLst>
    <p:handoutMasterId r:id="rId17"/>
  </p:handoutMasterIdLst>
  <p:sldIdLst>
    <p:sldId id="285" r:id="rId5"/>
    <p:sldId id="293" r:id="rId6"/>
    <p:sldId id="259" r:id="rId7"/>
    <p:sldId id="305" r:id="rId8"/>
    <p:sldId id="301" r:id="rId9"/>
    <p:sldId id="302" r:id="rId10"/>
    <p:sldId id="306" r:id="rId11"/>
    <p:sldId id="307" r:id="rId12"/>
    <p:sldId id="308" r:id="rId13"/>
    <p:sldId id="309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 autoAdjust="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outlineViewPr>
    <p:cViewPr>
      <p:scale>
        <a:sx n="33" d="100"/>
        <a:sy n="33" d="100"/>
      </p:scale>
      <p:origin x="0" y="-116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aura\Downloads\Student%20Spending%20Behavior%20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aura\Downloads\Student%20Spending%20Behavior%20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aura\Downloads\Student%20Spending%20Behavior%20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[Student Spending Behavior Analysis.xlsx]Spending Category Count!PivotTable3</c:name>
    <c:fmtId val="34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</a:rPr>
              <a:t>Spending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rgbClr val="000000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rgbClr val="FFFFFF"/>
            </a:solidFill>
            <a:ln>
              <a:solidFill>
                <a:srgbClr val="000000">
                  <a:lumMod val="25000"/>
                  <a:lumOff val="75000"/>
                </a:srgb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0.14444444444444443"/>
              <c:y val="-0.16203703703703703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0BDF98CC-E356-46C4-A6F4-91A08192071B}" type="CATEGORYNAME">
                  <a:rPr lang="en-US" sz="1000" b="1">
                    <a:solidFill>
                      <a:schemeClr val="bg1"/>
                    </a:solidFill>
                  </a:rPr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sz="1000" b="1" baseline="0">
                    <a:solidFill>
                      <a:schemeClr val="bg1"/>
                    </a:solidFill>
                  </a:rPr>
                  <a:t>
</a:t>
                </a:r>
                <a:fld id="{25C89442-5BC9-439E-A65C-C71132B2B067}" type="PERCENTAGE">
                  <a:rPr lang="en-US" sz="1000" b="1" baseline="0">
                    <a:solidFill>
                      <a:schemeClr val="bg1"/>
                    </a:solidFill>
                  </a:rPr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sz="1000" b="1" baseline="0">
                  <a:solidFill>
                    <a:schemeClr val="bg1"/>
                  </a:solidFill>
                </a:endParaRP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dlblFieldTable/>
              <c15:showDataLabelsRange val="0"/>
            </c:ext>
          </c:extLst>
        </c:dLbl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0.12777777777777777"/>
              <c:y val="4.1666666666666664E-2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CA539F57-F6AF-4DBD-9F46-7A20DEC865A8}" type="CATEGORYNAME">
                  <a:rPr lang="en-US" sz="1000" b="1">
                    <a:solidFill>
                      <a:schemeClr val="bg1"/>
                    </a:solidFill>
                  </a:rPr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sz="1000" b="1" baseline="0">
                    <a:solidFill>
                      <a:schemeClr val="bg1"/>
                    </a:solidFill>
                  </a:rPr>
                  <a:t>
</a:t>
                </a:r>
                <a:fld id="{87701126-BC74-40F4-B6E7-F7AE6D2C0EFD}" type="PERCENTAGE">
                  <a:rPr lang="en-US" sz="1000" b="1" baseline="0">
                    <a:solidFill>
                      <a:schemeClr val="bg1"/>
                    </a:solidFill>
                  </a:rPr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sz="1000" b="1" baseline="0">
                  <a:solidFill>
                    <a:schemeClr val="bg1"/>
                  </a:solidFill>
                </a:endParaRP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dlblFieldTable/>
              <c15:showDataLabelsRange val="0"/>
            </c:ext>
          </c:extLst>
        </c:dLbl>
      </c:pivotFmt>
      <c:pivotFmt>
        <c:idx val="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737CD06F-09D3-4D03-8509-75CEB0E76332}" type="CATEGORYNAME">
                  <a:rPr lang="en-US" sz="1000" b="1"/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sz="1000" b="1" baseline="0"/>
                  <a:t>
</a:t>
                </a:r>
                <a:fld id="{4ACB6111-DA60-4ED7-9AB7-5D4C458D1FEF}" type="PERCENTAGE">
                  <a:rPr lang="en-US" sz="1000" b="1" baseline="0"/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sz="1000" b="1" baseline="0"/>
              </a:p>
            </c:rich>
          </c:tx>
          <c:spPr>
            <a:solidFill>
              <a:srgbClr val="FFFFFF"/>
            </a:solidFill>
            <a:ln>
              <a:solidFill>
                <a:srgbClr val="000000">
                  <a:lumMod val="25000"/>
                  <a:lumOff val="75000"/>
                </a:srgb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dlblFieldTable/>
              <c15:showDataLabelsRange val="0"/>
            </c:ext>
          </c:extLst>
        </c:dLbl>
      </c:pivotFmt>
      <c:pivotFmt>
        <c:idx val="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24CA4805-068C-48F1-8CFE-528BCD788556}" type="CATEGORYNAME">
                  <a:rPr lang="en-US" sz="1000" b="1"/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sz="1000" b="1" baseline="0"/>
                  <a:t>
</a:t>
                </a:r>
                <a:fld id="{DA085EE3-BD53-489B-8C1F-1278C1EC4455}" type="PERCENTAGE">
                  <a:rPr lang="en-US" sz="1000" b="1" baseline="0"/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sz="1000" b="1" baseline="0"/>
              </a:p>
            </c:rich>
          </c:tx>
          <c:spPr>
            <a:solidFill>
              <a:srgbClr val="FFFFFF"/>
            </a:solidFill>
            <a:ln>
              <a:solidFill>
                <a:srgbClr val="000000">
                  <a:lumMod val="25000"/>
                  <a:lumOff val="75000"/>
                </a:srgb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dlblFieldTable/>
              <c15:showDataLabelsRange val="0"/>
            </c:ext>
          </c:extLst>
        </c:dLbl>
      </c:pivotFmt>
      <c:pivotFmt>
        <c:idx val="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49424A30-0036-4C97-A8B4-032E43B555F1}" type="CATEGORYNAME">
                  <a:rPr lang="en-US" sz="900" b="1"/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sz="900" b="1" baseline="0"/>
                  <a:t>
</a:t>
                </a:r>
                <a:fld id="{0474AAAA-D899-4F0A-9F34-BA3D15454D7D}" type="PERCENTAGE">
                  <a:rPr lang="en-US" sz="900" b="1" baseline="0"/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sz="900" b="1" baseline="0"/>
              </a:p>
            </c:rich>
          </c:tx>
          <c:spPr>
            <a:solidFill>
              <a:srgbClr val="FFFFFF"/>
            </a:solidFill>
            <a:ln>
              <a:solidFill>
                <a:srgbClr val="000000">
                  <a:lumMod val="25000"/>
                  <a:lumOff val="75000"/>
                </a:srgb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dlblFieldTable/>
              <c15:showDataLabelsRange val="0"/>
            </c:ext>
          </c:extLst>
        </c:dLbl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rgbClr val="FFFFFF"/>
            </a:solidFill>
            <a:ln>
              <a:solidFill>
                <a:srgbClr val="000000">
                  <a:lumMod val="25000"/>
                  <a:lumOff val="75000"/>
                </a:srgb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49424A30-0036-4C97-A8B4-032E43B555F1}" type="CATEGORYNAME">
                  <a:rPr lang="en-US" sz="900" b="1"/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sz="900" b="1" baseline="0"/>
                  <a:t>
</a:t>
                </a:r>
                <a:fld id="{0474AAAA-D899-4F0A-9F34-BA3D15454D7D}" type="PERCENTAGE">
                  <a:rPr lang="en-US" sz="900" b="1" baseline="0"/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sz="900" b="1" baseline="0"/>
              </a:p>
            </c:rich>
          </c:tx>
          <c:spPr>
            <a:solidFill>
              <a:srgbClr val="FFFFFF"/>
            </a:solidFill>
            <a:ln>
              <a:solidFill>
                <a:srgbClr val="000000">
                  <a:lumMod val="25000"/>
                  <a:lumOff val="75000"/>
                </a:srgb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dlblFieldTable/>
              <c15:showDataLabelsRange val="0"/>
            </c:ext>
          </c:extLst>
        </c:dLbl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0.14444444444444443"/>
              <c:y val="-0.16203703703703703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0BDF98CC-E356-46C4-A6F4-91A08192071B}" type="CATEGORYNAME">
                  <a:rPr lang="en-US" sz="1000" b="1">
                    <a:solidFill>
                      <a:schemeClr val="bg1"/>
                    </a:solidFill>
                  </a:rPr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sz="1000" b="1" baseline="0">
                    <a:solidFill>
                      <a:schemeClr val="bg1"/>
                    </a:solidFill>
                  </a:rPr>
                  <a:t>
</a:t>
                </a:r>
                <a:fld id="{25C89442-5BC9-439E-A65C-C71132B2B067}" type="PERCENTAGE">
                  <a:rPr lang="en-US" sz="1000" b="1" baseline="0">
                    <a:solidFill>
                      <a:schemeClr val="bg1"/>
                    </a:solidFill>
                  </a:rPr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sz="1000" b="1" baseline="0">
                  <a:solidFill>
                    <a:schemeClr val="bg1"/>
                  </a:solidFill>
                </a:endParaRP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dlblFieldTable/>
              <c15:showDataLabelsRange val="0"/>
            </c:ext>
          </c:extLst>
        </c:dLbl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0.12777777777777777"/>
              <c:y val="4.1666666666666664E-2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CA539F57-F6AF-4DBD-9F46-7A20DEC865A8}" type="CATEGORYNAME">
                  <a:rPr lang="en-US" sz="1000" b="1">
                    <a:solidFill>
                      <a:schemeClr val="bg1"/>
                    </a:solidFill>
                  </a:rPr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sz="1000" b="1" baseline="0">
                    <a:solidFill>
                      <a:schemeClr val="bg1"/>
                    </a:solidFill>
                  </a:rPr>
                  <a:t>
</a:t>
                </a:r>
                <a:fld id="{87701126-BC74-40F4-B6E7-F7AE6D2C0EFD}" type="PERCENTAGE">
                  <a:rPr lang="en-US" sz="1000" b="1" baseline="0">
                    <a:solidFill>
                      <a:schemeClr val="bg1"/>
                    </a:solidFill>
                  </a:rPr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sz="1000" b="1" baseline="0">
                  <a:solidFill>
                    <a:schemeClr val="bg1"/>
                  </a:solidFill>
                </a:endParaRP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dlblFieldTable/>
              <c15:showDataLabelsRange val="0"/>
            </c:ext>
          </c:extLst>
        </c:dLbl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737CD06F-09D3-4D03-8509-75CEB0E76332}" type="CATEGORYNAME">
                  <a:rPr lang="en-US" sz="1000" b="1"/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sz="1000" b="1" baseline="0"/>
                  <a:t>
</a:t>
                </a:r>
                <a:fld id="{4ACB6111-DA60-4ED7-9AB7-5D4C458D1FEF}" type="PERCENTAGE">
                  <a:rPr lang="en-US" sz="1000" b="1" baseline="0"/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sz="1000" b="1" baseline="0"/>
              </a:p>
            </c:rich>
          </c:tx>
          <c:spPr>
            <a:solidFill>
              <a:srgbClr val="FFFFFF"/>
            </a:solidFill>
            <a:ln>
              <a:solidFill>
                <a:srgbClr val="000000">
                  <a:lumMod val="25000"/>
                  <a:lumOff val="75000"/>
                </a:srgb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dlblFieldTable/>
              <c15:showDataLabelsRange val="0"/>
            </c:ext>
          </c:extLst>
        </c:dLbl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24CA4805-068C-48F1-8CFE-528BCD788556}" type="CATEGORYNAME">
                  <a:rPr lang="en-US" sz="1000" b="1"/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sz="1000" b="1" baseline="0"/>
                  <a:t>
</a:t>
                </a:r>
                <a:fld id="{DA085EE3-BD53-489B-8C1F-1278C1EC4455}" type="PERCENTAGE">
                  <a:rPr lang="en-US" sz="1000" b="1" baseline="0"/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sz="1000" b="1" baseline="0"/>
              </a:p>
            </c:rich>
          </c:tx>
          <c:spPr>
            <a:solidFill>
              <a:srgbClr val="FFFFFF"/>
            </a:solidFill>
            <a:ln>
              <a:solidFill>
                <a:srgbClr val="000000">
                  <a:lumMod val="25000"/>
                  <a:lumOff val="75000"/>
                </a:srgb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dlblFieldTable/>
              <c15:showDataLabelsRange val="0"/>
            </c:ext>
          </c:extLst>
        </c:dLbl>
      </c:pivotFmt>
      <c:pivotFmt>
        <c:idx val="1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rgbClr val="FFFFFF"/>
            </a:solidFill>
            <a:ln>
              <a:solidFill>
                <a:srgbClr val="000000">
                  <a:lumMod val="25000"/>
                  <a:lumOff val="75000"/>
                </a:srgb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49424A30-0036-4C97-A8B4-032E43B555F1}" type="CATEGORYNAME">
                  <a:rPr lang="en-US" sz="900" b="1"/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sz="900" b="1" baseline="0"/>
                  <a:t>
</a:t>
                </a:r>
                <a:fld id="{0474AAAA-D899-4F0A-9F34-BA3D15454D7D}" type="PERCENTAGE">
                  <a:rPr lang="en-US" sz="900" b="1" baseline="0"/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sz="900" b="1" baseline="0"/>
              </a:p>
            </c:rich>
          </c:tx>
          <c:spPr>
            <a:solidFill>
              <a:srgbClr val="FFFFFF"/>
            </a:solidFill>
            <a:ln>
              <a:solidFill>
                <a:srgbClr val="000000">
                  <a:lumMod val="25000"/>
                  <a:lumOff val="75000"/>
                </a:srgb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dlblFieldTable/>
              <c15:showDataLabelsRange val="0"/>
            </c:ext>
          </c:extLst>
        </c:dLbl>
      </c:pivotFmt>
      <c:pivotFmt>
        <c:idx val="1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0.14444444444444443"/>
              <c:y val="-0.16203703703703703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0BDF98CC-E356-46C4-A6F4-91A08192071B}" type="CATEGORYNAME">
                  <a:rPr lang="en-US" sz="1000" b="1">
                    <a:solidFill>
                      <a:schemeClr val="bg1"/>
                    </a:solidFill>
                  </a:rPr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sz="1000" b="1" baseline="0">
                    <a:solidFill>
                      <a:schemeClr val="bg1"/>
                    </a:solidFill>
                  </a:rPr>
                  <a:t>
</a:t>
                </a:r>
                <a:fld id="{25C89442-5BC9-439E-A65C-C71132B2B067}" type="PERCENTAGE">
                  <a:rPr lang="en-US" sz="1000" b="1" baseline="0">
                    <a:solidFill>
                      <a:schemeClr val="bg1"/>
                    </a:solidFill>
                  </a:rPr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sz="1000" b="1" baseline="0">
                  <a:solidFill>
                    <a:schemeClr val="bg1"/>
                  </a:solidFill>
                </a:endParaRP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dlblFieldTable/>
              <c15:showDataLabelsRange val="0"/>
            </c:ext>
          </c:extLst>
        </c:dLbl>
      </c:pivotFmt>
      <c:pivotFmt>
        <c:idx val="1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0.12777777777777777"/>
              <c:y val="4.1666666666666664E-2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CA539F57-F6AF-4DBD-9F46-7A20DEC865A8}" type="CATEGORYNAME">
                  <a:rPr lang="en-US" sz="1000" b="1">
                    <a:solidFill>
                      <a:schemeClr val="bg1"/>
                    </a:solidFill>
                  </a:rPr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sz="1000" b="1" baseline="0">
                    <a:solidFill>
                      <a:schemeClr val="bg1"/>
                    </a:solidFill>
                  </a:rPr>
                  <a:t>
</a:t>
                </a:r>
                <a:fld id="{87701126-BC74-40F4-B6E7-F7AE6D2C0EFD}" type="PERCENTAGE">
                  <a:rPr lang="en-US" sz="1000" b="1" baseline="0">
                    <a:solidFill>
                      <a:schemeClr val="bg1"/>
                    </a:solidFill>
                  </a:rPr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sz="1000" b="1" baseline="0">
                  <a:solidFill>
                    <a:schemeClr val="bg1"/>
                  </a:solidFill>
                </a:endParaRP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dlblFieldTable/>
              <c15:showDataLabelsRange val="0"/>
            </c:ext>
          </c:extLst>
        </c:dLbl>
      </c:pivotFmt>
      <c:pivotFmt>
        <c:idx val="1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737CD06F-09D3-4D03-8509-75CEB0E76332}" type="CATEGORYNAME">
                  <a:rPr lang="en-US" sz="1000" b="1"/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sz="1000" b="1" baseline="0"/>
                  <a:t>
</a:t>
                </a:r>
                <a:fld id="{4ACB6111-DA60-4ED7-9AB7-5D4C458D1FEF}" type="PERCENTAGE">
                  <a:rPr lang="en-US" sz="1000" b="1" baseline="0"/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sz="1000" b="1" baseline="0"/>
              </a:p>
            </c:rich>
          </c:tx>
          <c:spPr>
            <a:solidFill>
              <a:srgbClr val="FFFFFF"/>
            </a:solidFill>
            <a:ln>
              <a:solidFill>
                <a:srgbClr val="000000">
                  <a:lumMod val="25000"/>
                  <a:lumOff val="75000"/>
                </a:srgb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dlblFieldTable/>
              <c15:showDataLabelsRange val="0"/>
            </c:ext>
          </c:extLst>
        </c:dLbl>
      </c:pivotFmt>
      <c:pivotFmt>
        <c:idx val="1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24CA4805-068C-48F1-8CFE-528BCD788556}" type="CATEGORYNAME">
                  <a:rPr lang="en-US" sz="1000" b="1"/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sz="1000" b="1" baseline="0"/>
                  <a:t>
</a:t>
                </a:r>
                <a:fld id="{DA085EE3-BD53-489B-8C1F-1278C1EC4455}" type="PERCENTAGE">
                  <a:rPr lang="en-US" sz="1000" b="1" baseline="0"/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sz="1000" b="1" baseline="0"/>
              </a:p>
            </c:rich>
          </c:tx>
          <c:spPr>
            <a:solidFill>
              <a:srgbClr val="FFFFFF"/>
            </a:solidFill>
            <a:ln>
              <a:solidFill>
                <a:srgbClr val="000000">
                  <a:lumMod val="25000"/>
                  <a:lumOff val="75000"/>
                </a:srgb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dlblFieldTable/>
              <c15:showDataLabelsRange val="0"/>
            </c:ext>
          </c:extLst>
        </c:dLbl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1921500437445319"/>
          <c:y val="0.25536016331291922"/>
          <c:w val="0.63567760279965002"/>
          <c:h val="0.67092337416156311"/>
        </c:manualLayout>
      </c:layout>
      <c:pie3DChart>
        <c:varyColors val="1"/>
        <c:ser>
          <c:idx val="0"/>
          <c:order val="0"/>
          <c:tx>
            <c:strRef>
              <c:f>'Spending Category Count'!$B$5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02AA-4DDB-8C34-A499FA6F939E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02AA-4DDB-8C34-A499FA6F939E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02AA-4DDB-8C34-A499FA6F939E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02AA-4DDB-8C34-A499FA6F939E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02AA-4DDB-8C34-A499FA6F939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49424A30-0036-4C97-A8B4-032E43B555F1}" type="CATEGORYNAME">
                      <a:rPr lang="en-US" sz="900" b="1"/>
                      <a:pPr/>
                      <a:t>[CATEGORY NAME]</a:t>
                    </a:fld>
                    <a:r>
                      <a:rPr lang="en-US" sz="900" b="1" baseline="0"/>
                      <a:t>
</a:t>
                    </a:r>
                    <a:fld id="{0474AAAA-D899-4F0A-9F34-BA3D15454D7D}" type="PERCENTAGE">
                      <a:rPr lang="en-US" sz="900" b="1" baseline="0"/>
                      <a:pPr/>
                      <a:t>[PERCENTAGE]</a:t>
                    </a:fld>
                    <a:endParaRPr lang="en-US" sz="900" b="1" baseline="0"/>
                  </a:p>
                </c:rich>
              </c:tx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02AA-4DDB-8C34-A499FA6F939E}"/>
                </c:ext>
              </c:extLst>
            </c:dLbl>
            <c:dLbl>
              <c:idx val="1"/>
              <c:layout>
                <c:manualLayout>
                  <c:x val="-0.14444444444444443"/>
                  <c:y val="-0.16203703703703703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dk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0BDF98CC-E356-46C4-A6F4-91A08192071B}" type="CATEGORYNAME">
                      <a:rPr lang="en-US" sz="1000" b="1">
                        <a:solidFill>
                          <a:schemeClr val="bg1"/>
                        </a:solidFill>
                      </a:rPr>
                      <a:pPr>
                        <a:defRPr/>
                      </a:pPr>
                      <a:t>[CATEGORY NAME]</a:t>
                    </a:fld>
                    <a:r>
                      <a:rPr lang="en-US" sz="1000" b="1" baseline="0">
                        <a:solidFill>
                          <a:schemeClr val="bg1"/>
                        </a:solidFill>
                      </a:rPr>
                      <a:t>
</a:t>
                    </a:r>
                    <a:fld id="{25C89442-5BC9-439E-A65C-C71132B2B067}" type="PERCENTAGE">
                      <a:rPr lang="en-US" sz="1000" b="1" baseline="0">
                        <a:solidFill>
                          <a:schemeClr val="bg1"/>
                        </a:solidFill>
                      </a:rPr>
                      <a:pPr>
                        <a:defRPr/>
                      </a:pPr>
                      <a:t>[PERCENTAGE]</a:t>
                    </a:fld>
                    <a:endParaRPr lang="en-US" sz="1000" b="1" baseline="0">
                      <a:solidFill>
                        <a:schemeClr val="bg1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2AA-4DDB-8C34-A499FA6F939E}"/>
                </c:ext>
              </c:extLst>
            </c:dLbl>
            <c:dLbl>
              <c:idx val="2"/>
              <c:layout>
                <c:manualLayout>
                  <c:x val="0.12777777777777777"/>
                  <c:y val="4.1666666666666664E-2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dk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CA539F57-F6AF-4DBD-9F46-7A20DEC865A8}" type="CATEGORYNAME">
                      <a:rPr lang="en-US" sz="1000" b="1">
                        <a:solidFill>
                          <a:schemeClr val="bg1"/>
                        </a:solidFill>
                      </a:rPr>
                      <a:pPr>
                        <a:defRPr/>
                      </a:pPr>
                      <a:t>[CATEGORY NAME]</a:t>
                    </a:fld>
                    <a:r>
                      <a:rPr lang="en-US" sz="1000" b="1" baseline="0">
                        <a:solidFill>
                          <a:schemeClr val="bg1"/>
                        </a:solidFill>
                      </a:rPr>
                      <a:t>
</a:t>
                    </a:r>
                    <a:fld id="{87701126-BC74-40F4-B6E7-F7AE6D2C0EFD}" type="PERCENTAGE">
                      <a:rPr lang="en-US" sz="1000" b="1" baseline="0">
                        <a:solidFill>
                          <a:schemeClr val="bg1"/>
                        </a:solidFill>
                      </a:rPr>
                      <a:pPr>
                        <a:defRPr/>
                      </a:pPr>
                      <a:t>[PERCENTAGE]</a:t>
                    </a:fld>
                    <a:endParaRPr lang="en-US" sz="1000" b="1" baseline="0">
                      <a:solidFill>
                        <a:schemeClr val="bg1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02AA-4DDB-8C34-A499FA6F939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737CD06F-09D3-4D03-8509-75CEB0E76332}" type="CATEGORYNAME">
                      <a:rPr lang="en-US" sz="1000" b="1"/>
                      <a:pPr/>
                      <a:t>[CATEGORY NAME]</a:t>
                    </a:fld>
                    <a:r>
                      <a:rPr lang="en-US" sz="1000" b="1" baseline="0"/>
                      <a:t>
</a:t>
                    </a:r>
                    <a:fld id="{4ACB6111-DA60-4ED7-9AB7-5D4C458D1FEF}" type="PERCENTAGE">
                      <a:rPr lang="en-US" sz="1000" b="1" baseline="0"/>
                      <a:pPr/>
                      <a:t>[PERCENTAGE]</a:t>
                    </a:fld>
                    <a:endParaRPr lang="en-US" sz="1000" b="1" baseline="0"/>
                  </a:p>
                </c:rich>
              </c:tx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02AA-4DDB-8C34-A499FA6F939E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24CA4805-068C-48F1-8CFE-528BCD788556}" type="CATEGORYNAME">
                      <a:rPr lang="en-US" sz="1000" b="1"/>
                      <a:pPr/>
                      <a:t>[CATEGORY NAME]</a:t>
                    </a:fld>
                    <a:r>
                      <a:rPr lang="en-US" sz="1000" b="1" baseline="0"/>
                      <a:t>
</a:t>
                    </a:r>
                    <a:fld id="{DA085EE3-BD53-489B-8C1F-1278C1EC4455}" type="PERCENTAGE">
                      <a:rPr lang="en-US" sz="1000" b="1" baseline="0"/>
                      <a:pPr/>
                      <a:t>[PERCENTAGE]</a:t>
                    </a:fld>
                    <a:endParaRPr lang="en-US" sz="1000" b="1" baseline="0"/>
                  </a:p>
                </c:rich>
              </c:tx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02AA-4DDB-8C34-A499FA6F939E}"/>
                </c:ext>
              </c:extLst>
            </c:dLbl>
            <c:spPr>
              <a:solidFill>
                <a:srgbClr val="FFFFFF"/>
              </a:solidFill>
              <a:ln>
                <a:solidFill>
                  <a:srgbClr val="000000">
                    <a:lumMod val="25000"/>
                    <a:lumOff val="75000"/>
                  </a:srgb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'Spending Category Count'!$A$6:$A$10</c:f>
              <c:strCache>
                <c:ptCount val="5"/>
                <c:pt idx="0">
                  <c:v>Entertainment</c:v>
                </c:pt>
                <c:pt idx="1">
                  <c:v>Food</c:v>
                </c:pt>
                <c:pt idx="2">
                  <c:v>Others</c:v>
                </c:pt>
                <c:pt idx="3">
                  <c:v>Shopping</c:v>
                </c:pt>
                <c:pt idx="4">
                  <c:v>Travel</c:v>
                </c:pt>
              </c:strCache>
            </c:strRef>
          </c:cat>
          <c:val>
            <c:numRef>
              <c:f>'Spending Category Count'!$B$6:$B$10</c:f>
              <c:numCache>
                <c:formatCode>General</c:formatCode>
                <c:ptCount val="5"/>
                <c:pt idx="0">
                  <c:v>2</c:v>
                </c:pt>
                <c:pt idx="1">
                  <c:v>32</c:v>
                </c:pt>
                <c:pt idx="2">
                  <c:v>8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2AA-4DDB-8C34-A499FA6F93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4910761154855643"/>
          <c:y val="0.37860345581802274"/>
          <c:w val="0.18700349956255469"/>
          <c:h val="0.378140492855059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[Student Spending Behavior Analysis.xlsx]Comparison !PivotTable1</c:name>
    <c:fmtId val="2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Allowance vs Avg Spending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FFC000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C000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FFC000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1462554680664916"/>
          <c:y val="0.15787037037037038"/>
          <c:w val="0.74633245844269469"/>
          <c:h val="0.68185221638961802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'Comparison 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'Comparison '!$A$4:$A$8</c:f>
              <c:strCache>
                <c:ptCount val="4"/>
                <c:pt idx="0">
                  <c:v>₹2000 - ₹5000</c:v>
                </c:pt>
                <c:pt idx="1">
                  <c:v>₹5000 - ₹10000</c:v>
                </c:pt>
                <c:pt idx="2">
                  <c:v>Above ₹10000</c:v>
                </c:pt>
                <c:pt idx="3">
                  <c:v>Less than ₹2000</c:v>
                </c:pt>
              </c:strCache>
            </c:strRef>
          </c:cat>
          <c:val>
            <c:numRef>
              <c:f>'Comparison '!$B$4:$B$8</c:f>
              <c:numCache>
                <c:formatCode>General</c:formatCode>
                <c:ptCount val="4"/>
                <c:pt idx="0">
                  <c:v>3100</c:v>
                </c:pt>
                <c:pt idx="1">
                  <c:v>3500</c:v>
                </c:pt>
                <c:pt idx="2">
                  <c:v>9833.3333333333339</c:v>
                </c:pt>
                <c:pt idx="3">
                  <c:v>4371.4285714285716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35-4132-8120-542361618D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035021903"/>
        <c:axId val="1035032943"/>
        <c:axId val="0"/>
      </c:bar3DChart>
      <c:catAx>
        <c:axId val="10350219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5032943"/>
        <c:crosses val="autoZero"/>
        <c:auto val="1"/>
        <c:lblAlgn val="ctr"/>
        <c:lblOffset val="100"/>
        <c:noMultiLvlLbl val="0"/>
      </c:catAx>
      <c:valAx>
        <c:axId val="1035032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50219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[Student Spending Behavior Analysis.xlsx]Payment method analysis!PivotTable4</c:name>
    <c:fmtId val="30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</a:rPr>
              <a:t>Payment Method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rgbClr val="000000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rgbClr val="FFFFFF"/>
            </a:solidFill>
            <a:ln>
              <a:solidFill>
                <a:srgbClr val="000000">
                  <a:lumMod val="25000"/>
                  <a:lumOff val="75000"/>
                </a:srgb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0.15"/>
              <c:y val="-0.16203703703703703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E9AF4992-48F9-443A-90C8-52E18E88BE1D}" type="CATEGORYNAME">
                  <a:rPr lang="en-US" sz="1000" b="1">
                    <a:solidFill>
                      <a:schemeClr val="bg1"/>
                    </a:solidFill>
                  </a:rPr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sz="1000" b="1" baseline="0">
                    <a:solidFill>
                      <a:schemeClr val="bg1"/>
                    </a:solidFill>
                  </a:rPr>
                  <a:t>
</a:t>
                </a:r>
                <a:fld id="{6404B734-5E43-48E8-853B-74123A9C7DF9}" type="PERCENTAGE">
                  <a:rPr lang="en-US" sz="1000" b="1" baseline="0">
                    <a:solidFill>
                      <a:schemeClr val="bg1"/>
                    </a:solidFill>
                  </a:rPr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sz="1000" b="1" baseline="0">
                  <a:solidFill>
                    <a:schemeClr val="bg1"/>
                  </a:solidFill>
                </a:endParaRP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dlblFieldTable/>
              <c15:showDataLabelsRange val="0"/>
            </c:ext>
          </c:extLst>
        </c:dLbl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0.12777777777777788"/>
              <c:y val="9.2592592592592629E-2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15B69110-0F8F-46B9-B874-8125718008A7}" type="CATEGORYNAME">
                  <a:rPr lang="en-US" sz="1000" b="1">
                    <a:solidFill>
                      <a:schemeClr val="bg1"/>
                    </a:solidFill>
                  </a:rPr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sz="1000" b="1" baseline="0">
                    <a:solidFill>
                      <a:schemeClr val="bg1"/>
                    </a:solidFill>
                  </a:rPr>
                  <a:t>
</a:t>
                </a:r>
                <a:fld id="{83EF3FCC-C536-46DC-9F9C-53891FA57E10}" type="PERCENTAGE">
                  <a:rPr lang="en-US" sz="1000" b="1" baseline="0">
                    <a:solidFill>
                      <a:schemeClr val="bg1"/>
                    </a:solidFill>
                  </a:rPr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sz="1000" b="1" baseline="0">
                  <a:solidFill>
                    <a:schemeClr val="bg1"/>
                  </a:solidFill>
                </a:endParaRP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dlblFieldTable/>
              <c15:showDataLabelsRange val="0"/>
            </c:ext>
          </c:extLst>
        </c:dLbl>
      </c:pivotFmt>
      <c:pivotFmt>
        <c:idx val="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D1ECF130-CE96-4EFC-955D-84EE360E19FF}" type="CATEGORYNAME">
                  <a:rPr lang="en-US" sz="1000" b="1">
                    <a:solidFill>
                      <a:schemeClr val="tx2"/>
                    </a:solidFill>
                  </a:rPr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sz="1000" b="1" baseline="0">
                    <a:solidFill>
                      <a:schemeClr val="tx2"/>
                    </a:solidFill>
                  </a:rPr>
                  <a:t>
</a:t>
                </a:r>
                <a:fld id="{CA8992AF-F03F-49CD-A85E-C6717F9ADA3F}" type="PERCENTAGE">
                  <a:rPr lang="en-US" sz="1000" b="1" baseline="0">
                    <a:solidFill>
                      <a:schemeClr val="tx2"/>
                    </a:solidFill>
                  </a:rPr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sz="1000" b="1" baseline="0">
                  <a:solidFill>
                    <a:schemeClr val="tx2"/>
                  </a:solidFill>
                </a:endParaRPr>
              </a:p>
            </c:rich>
          </c:tx>
          <c:spPr>
            <a:solidFill>
              <a:srgbClr val="FFFFFF"/>
            </a:solidFill>
            <a:ln>
              <a:solidFill>
                <a:srgbClr val="000000">
                  <a:lumMod val="25000"/>
                  <a:lumOff val="75000"/>
                </a:srgb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dlblFieldTable/>
              <c15:showDataLabelsRange val="0"/>
            </c:ext>
          </c:extLst>
        </c:dLbl>
      </c:pivotFmt>
      <c:pivotFmt>
        <c:idx val="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rgbClr val="FFFFFF"/>
            </a:solidFill>
            <a:ln>
              <a:solidFill>
                <a:srgbClr val="000000">
                  <a:lumMod val="25000"/>
                  <a:lumOff val="75000"/>
                </a:srgb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0.12777777777777788"/>
              <c:y val="9.2592592592592629E-2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15B69110-0F8F-46B9-B874-8125718008A7}" type="CATEGORYNAME">
                  <a:rPr lang="en-US" sz="1000" b="1">
                    <a:solidFill>
                      <a:schemeClr val="bg1"/>
                    </a:solidFill>
                  </a:rPr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sz="1000" b="1" baseline="0">
                    <a:solidFill>
                      <a:schemeClr val="bg1"/>
                    </a:solidFill>
                  </a:rPr>
                  <a:t>
</a:t>
                </a:r>
                <a:fld id="{83EF3FCC-C536-46DC-9F9C-53891FA57E10}" type="PERCENTAGE">
                  <a:rPr lang="en-US" sz="1000" b="1" baseline="0">
                    <a:solidFill>
                      <a:schemeClr val="bg1"/>
                    </a:solidFill>
                  </a:rPr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sz="1000" b="1" baseline="0">
                  <a:solidFill>
                    <a:schemeClr val="bg1"/>
                  </a:solidFill>
                </a:endParaRP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dlblFieldTable/>
              <c15:showDataLabelsRange val="0"/>
            </c:ext>
          </c:extLst>
        </c:dLbl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D1ECF130-CE96-4EFC-955D-84EE360E19FF}" type="CATEGORYNAME">
                  <a:rPr lang="en-US" sz="1000" b="1">
                    <a:solidFill>
                      <a:schemeClr val="tx2"/>
                    </a:solidFill>
                  </a:rPr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sz="1000" b="1" baseline="0">
                    <a:solidFill>
                      <a:schemeClr val="tx2"/>
                    </a:solidFill>
                  </a:rPr>
                  <a:t>
</a:t>
                </a:r>
                <a:fld id="{CA8992AF-F03F-49CD-A85E-C6717F9ADA3F}" type="PERCENTAGE">
                  <a:rPr lang="en-US" sz="1000" b="1" baseline="0">
                    <a:solidFill>
                      <a:schemeClr val="tx2"/>
                    </a:solidFill>
                  </a:rPr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sz="1000" b="1" baseline="0">
                  <a:solidFill>
                    <a:schemeClr val="tx2"/>
                  </a:solidFill>
                </a:endParaRPr>
              </a:p>
            </c:rich>
          </c:tx>
          <c:spPr>
            <a:solidFill>
              <a:srgbClr val="FFFFFF"/>
            </a:solidFill>
            <a:ln>
              <a:solidFill>
                <a:srgbClr val="000000">
                  <a:lumMod val="25000"/>
                  <a:lumOff val="75000"/>
                </a:srgb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dlblFieldTable/>
              <c15:showDataLabelsRange val="0"/>
            </c:ext>
          </c:extLst>
        </c:dLbl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0.15"/>
              <c:y val="-0.16203703703703703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E9AF4992-48F9-443A-90C8-52E18E88BE1D}" type="CATEGORYNAME">
                  <a:rPr lang="en-US" sz="1000" b="1">
                    <a:solidFill>
                      <a:schemeClr val="bg1"/>
                    </a:solidFill>
                  </a:rPr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sz="1000" b="1" baseline="0">
                    <a:solidFill>
                      <a:schemeClr val="bg1"/>
                    </a:solidFill>
                  </a:rPr>
                  <a:t>
</a:t>
                </a:r>
                <a:fld id="{6404B734-5E43-48E8-853B-74123A9C7DF9}" type="PERCENTAGE">
                  <a:rPr lang="en-US" sz="1000" b="1" baseline="0">
                    <a:solidFill>
                      <a:schemeClr val="bg1"/>
                    </a:solidFill>
                  </a:rPr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sz="1000" b="1" baseline="0">
                  <a:solidFill>
                    <a:schemeClr val="bg1"/>
                  </a:solidFill>
                </a:endParaRP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dlblFieldTable/>
              <c15:showDataLabelsRange val="0"/>
            </c:ext>
          </c:extLst>
        </c:dLbl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rgbClr val="FFFFFF"/>
            </a:solidFill>
            <a:ln>
              <a:solidFill>
                <a:srgbClr val="000000">
                  <a:lumMod val="25000"/>
                  <a:lumOff val="75000"/>
                </a:srgb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0.12777777777777788"/>
              <c:y val="9.2592592592592629E-2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15B69110-0F8F-46B9-B874-8125718008A7}" type="CATEGORYNAME">
                  <a:rPr lang="en-US" sz="1000" b="1">
                    <a:solidFill>
                      <a:schemeClr val="bg1"/>
                    </a:solidFill>
                  </a:rPr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sz="1000" b="1" baseline="0">
                    <a:solidFill>
                      <a:schemeClr val="bg1"/>
                    </a:solidFill>
                  </a:rPr>
                  <a:t>
</a:t>
                </a:r>
                <a:fld id="{83EF3FCC-C536-46DC-9F9C-53891FA57E10}" type="PERCENTAGE">
                  <a:rPr lang="en-US" sz="1000" b="1" baseline="0">
                    <a:solidFill>
                      <a:schemeClr val="bg1"/>
                    </a:solidFill>
                  </a:rPr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sz="1000" b="1" baseline="0">
                  <a:solidFill>
                    <a:schemeClr val="bg1"/>
                  </a:solidFill>
                </a:endParaRP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dlblFieldTable/>
              <c15:showDataLabelsRange val="0"/>
            </c:ext>
          </c:extLst>
        </c:dLbl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D1ECF130-CE96-4EFC-955D-84EE360E19FF}" type="CATEGORYNAME">
                  <a:rPr lang="en-US" sz="1000" b="1">
                    <a:solidFill>
                      <a:schemeClr val="tx2"/>
                    </a:solidFill>
                  </a:rPr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sz="1000" b="1" baseline="0">
                    <a:solidFill>
                      <a:schemeClr val="tx2"/>
                    </a:solidFill>
                  </a:rPr>
                  <a:t>
</a:t>
                </a:r>
                <a:fld id="{CA8992AF-F03F-49CD-A85E-C6717F9ADA3F}" type="PERCENTAGE">
                  <a:rPr lang="en-US" sz="1000" b="1" baseline="0">
                    <a:solidFill>
                      <a:schemeClr val="tx2"/>
                    </a:solidFill>
                  </a:rPr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sz="1000" b="1" baseline="0">
                  <a:solidFill>
                    <a:schemeClr val="tx2"/>
                  </a:solidFill>
                </a:endParaRPr>
              </a:p>
            </c:rich>
          </c:tx>
          <c:spPr>
            <a:solidFill>
              <a:srgbClr val="FFFFFF"/>
            </a:solidFill>
            <a:ln>
              <a:solidFill>
                <a:srgbClr val="000000">
                  <a:lumMod val="25000"/>
                  <a:lumOff val="75000"/>
                </a:srgb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dlblFieldTable/>
              <c15:showDataLabelsRange val="0"/>
            </c:ext>
          </c:extLst>
        </c:dLbl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0.15"/>
              <c:y val="-0.16203703703703703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E9AF4992-48F9-443A-90C8-52E18E88BE1D}" type="CATEGORYNAME">
                  <a:rPr lang="en-US" sz="1000" b="1">
                    <a:solidFill>
                      <a:schemeClr val="bg1"/>
                    </a:solidFill>
                  </a:rPr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sz="1000" b="1" baseline="0">
                    <a:solidFill>
                      <a:schemeClr val="bg1"/>
                    </a:solidFill>
                  </a:rPr>
                  <a:t>
</a:t>
                </a:r>
                <a:fld id="{6404B734-5E43-48E8-853B-74123A9C7DF9}" type="PERCENTAGE">
                  <a:rPr lang="en-US" sz="1000" b="1" baseline="0">
                    <a:solidFill>
                      <a:schemeClr val="bg1"/>
                    </a:solidFill>
                  </a:rPr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sz="1000" b="1" baseline="0">
                  <a:solidFill>
                    <a:schemeClr val="bg1"/>
                  </a:solidFill>
                </a:endParaRP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dlblFieldTable/>
              <c15:showDataLabelsRange val="0"/>
            </c:ext>
          </c:extLst>
        </c:dLbl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9.3055555555555558E-2"/>
          <c:y val="0.20443423738699329"/>
          <c:w val="0.81388888888888888"/>
          <c:h val="0.67092337416156311"/>
        </c:manualLayout>
      </c:layout>
      <c:pie3DChart>
        <c:varyColors val="1"/>
        <c:ser>
          <c:idx val="0"/>
          <c:order val="0"/>
          <c:tx>
            <c:strRef>
              <c:f>'Payment method analysis'!$B$4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8B18-4062-A7AD-48C59700B9D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8B18-4062-A7AD-48C59700B9D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8B18-4062-A7AD-48C59700B9D7}"/>
              </c:ext>
            </c:extLst>
          </c:dPt>
          <c:dLbls>
            <c:dLbl>
              <c:idx val="0"/>
              <c:layout>
                <c:manualLayout>
                  <c:x val="-0.12777777777777788"/>
                  <c:y val="9.2592592592592629E-2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dk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15B69110-0F8F-46B9-B874-8125718008A7}" type="CATEGORYNAME">
                      <a:rPr lang="en-US" sz="1000" b="1">
                        <a:solidFill>
                          <a:schemeClr val="bg1"/>
                        </a:solidFill>
                      </a:rPr>
                      <a:pPr>
                        <a:defRPr/>
                      </a:pPr>
                      <a:t>[CATEGORY NAME]</a:t>
                    </a:fld>
                    <a:r>
                      <a:rPr lang="en-US" sz="1000" b="1" baseline="0">
                        <a:solidFill>
                          <a:schemeClr val="bg1"/>
                        </a:solidFill>
                      </a:rPr>
                      <a:t>
</a:t>
                    </a:r>
                    <a:fld id="{83EF3FCC-C536-46DC-9F9C-53891FA57E10}" type="PERCENTAGE">
                      <a:rPr lang="en-US" sz="1000" b="1" baseline="0">
                        <a:solidFill>
                          <a:schemeClr val="bg1"/>
                        </a:solidFill>
                      </a:rPr>
                      <a:pPr>
                        <a:defRPr/>
                      </a:pPr>
                      <a:t>[PERCENTAGE]</a:t>
                    </a:fld>
                    <a:endParaRPr lang="en-US" sz="1000" b="1" baseline="0">
                      <a:solidFill>
                        <a:schemeClr val="bg1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8B18-4062-A7AD-48C59700B9D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1ECF130-CE96-4EFC-955D-84EE360E19FF}" type="CATEGORYNAME">
                      <a:rPr lang="en-US" sz="1000" b="1">
                        <a:solidFill>
                          <a:schemeClr val="tx2"/>
                        </a:solidFill>
                      </a:rPr>
                      <a:pPr/>
                      <a:t>[CATEGORY NAME]</a:t>
                    </a:fld>
                    <a:r>
                      <a:rPr lang="en-US" sz="1000" b="1" baseline="0">
                        <a:solidFill>
                          <a:schemeClr val="tx2"/>
                        </a:solidFill>
                      </a:rPr>
                      <a:t>
</a:t>
                    </a:r>
                    <a:fld id="{CA8992AF-F03F-49CD-A85E-C6717F9ADA3F}" type="PERCENTAGE">
                      <a:rPr lang="en-US" sz="1000" b="1" baseline="0">
                        <a:solidFill>
                          <a:schemeClr val="tx2"/>
                        </a:solidFill>
                      </a:rPr>
                      <a:pPr/>
                      <a:t>[PERCENTAGE]</a:t>
                    </a:fld>
                    <a:endParaRPr lang="en-US" sz="1000" b="1" baseline="0">
                      <a:solidFill>
                        <a:schemeClr val="tx2"/>
                      </a:solidFill>
                    </a:endParaRPr>
                  </a:p>
                </c:rich>
              </c:tx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8B18-4062-A7AD-48C59700B9D7}"/>
                </c:ext>
              </c:extLst>
            </c:dLbl>
            <c:dLbl>
              <c:idx val="2"/>
              <c:layout>
                <c:manualLayout>
                  <c:x val="0.15"/>
                  <c:y val="-0.16203703703703703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dk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E9AF4992-48F9-443A-90C8-52E18E88BE1D}" type="CATEGORYNAME">
                      <a:rPr lang="en-US" sz="1000" b="1">
                        <a:solidFill>
                          <a:schemeClr val="bg1"/>
                        </a:solidFill>
                      </a:rPr>
                      <a:pPr>
                        <a:defRPr/>
                      </a:pPr>
                      <a:t>[CATEGORY NAME]</a:t>
                    </a:fld>
                    <a:r>
                      <a:rPr lang="en-US" sz="1000" b="1" baseline="0">
                        <a:solidFill>
                          <a:schemeClr val="bg1"/>
                        </a:solidFill>
                      </a:rPr>
                      <a:t>
</a:t>
                    </a:r>
                    <a:fld id="{6404B734-5E43-48E8-853B-74123A9C7DF9}" type="PERCENTAGE">
                      <a:rPr lang="en-US" sz="1000" b="1" baseline="0">
                        <a:solidFill>
                          <a:schemeClr val="bg1"/>
                        </a:solidFill>
                      </a:rPr>
                      <a:pPr>
                        <a:defRPr/>
                      </a:pPr>
                      <a:t>[PERCENTAGE]</a:t>
                    </a:fld>
                    <a:endParaRPr lang="en-US" sz="1000" b="1" baseline="0">
                      <a:solidFill>
                        <a:schemeClr val="bg1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8B18-4062-A7AD-48C59700B9D7}"/>
                </c:ext>
              </c:extLst>
            </c:dLbl>
            <c:spPr>
              <a:solidFill>
                <a:srgbClr val="FFFFFF"/>
              </a:solidFill>
              <a:ln>
                <a:solidFill>
                  <a:srgbClr val="000000">
                    <a:lumMod val="25000"/>
                    <a:lumOff val="75000"/>
                  </a:srgb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'Payment method analysis'!$A$5:$A$7</c:f>
              <c:strCache>
                <c:ptCount val="3"/>
                <c:pt idx="0">
                  <c:v>Cash</c:v>
                </c:pt>
                <c:pt idx="1">
                  <c:v>Debit/Credit Card</c:v>
                </c:pt>
                <c:pt idx="2">
                  <c:v>UPI</c:v>
                </c:pt>
              </c:strCache>
            </c:strRef>
          </c:cat>
          <c:val>
            <c:numRef>
              <c:f>'Payment method analysis'!$B$5:$B$7</c:f>
              <c:numCache>
                <c:formatCode>General</c:formatCode>
                <c:ptCount val="3"/>
                <c:pt idx="0">
                  <c:v>13</c:v>
                </c:pt>
                <c:pt idx="1">
                  <c:v>3</c:v>
                </c:pt>
                <c:pt idx="2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B18-4062-A7AD-48C59700B9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D413764-5AD9-E889-944D-1707A854A1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045D53-BE96-955D-B578-2BF8F356B7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4B9C3D-A6AA-4477-AC5E-4C46DDCA9DCD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ED3793-52FB-891B-2A0C-91D8927163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B8DAAB-C45C-E833-ECEB-14DCA0F17FC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DE28C3-D699-4CA0-B343-5111DC5919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8098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38646-CEA8-41F9-BD9F-D1FA107D99CC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040C8-62D2-4EA7-B200-D3B8C06AAF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067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806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210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251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0764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294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99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8A66DDD-7D9C-9641-30E9-932C5FD2D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83715" y="0"/>
            <a:ext cx="2497331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40F8B-6B6E-1B1A-7CC7-F44CB188B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527294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7301" y="1748633"/>
            <a:ext cx="7156415" cy="3360734"/>
          </a:xfrm>
        </p:spPr>
        <p:txBody>
          <a:bodyPr tIns="0" bIns="0" anchor="ctr">
            <a:no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94B31B-4290-C588-1212-26E6B428F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859A209-D12B-6E67-931A-5CB9E7110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971692" y="254794"/>
            <a:ext cx="8248616" cy="6367462"/>
            <a:chOff x="1689101" y="254794"/>
            <a:chExt cx="8248616" cy="636746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8628E6D-0C29-7F8E-67C4-175F211E705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89101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5D0695C-2845-A017-44FF-AC81720077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89101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C4F8C32-8C97-2BA7-D756-712EEDF143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937717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A53929D-82C0-204B-3528-E111E5608A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937717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68DE2F-0A5F-60BA-E2A6-247EF7CB8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971690" y="1543050"/>
            <a:ext cx="8248611" cy="3771900"/>
            <a:chOff x="2517792" y="1651000"/>
            <a:chExt cx="7165925" cy="37719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2DE19A1-6F20-44CE-16E6-E01C080DB71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27301" y="16510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A302056-7C77-84A9-00C4-C936CDB0EC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17792" y="54229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33199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0BCEE60A-6295-FCD1-542F-52EA50B3B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1031"/>
          <a:stretch/>
        </p:blipFill>
        <p:spPr>
          <a:xfrm rot="16200000">
            <a:off x="7083880" y="1749876"/>
            <a:ext cx="6858000" cy="335824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2E5EBF7-4D05-239B-0B70-F9AD5B569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1667"/>
          <a:stretch/>
        </p:blipFill>
        <p:spPr>
          <a:xfrm rot="5400000">
            <a:off x="-742950" y="742950"/>
            <a:ext cx="6858000" cy="5372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552D2-6E8F-FBA4-5AAD-121E6FDF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07AAD3-3E7E-4AA4-9B8A-E76C79C5D0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72100" y="892175"/>
            <a:ext cx="3461659" cy="5073650"/>
          </a:xfrm>
          <a:effectLst/>
        </p:spPr>
        <p:txBody>
          <a:bodyPr anchor="ctr">
            <a:normAutofit/>
          </a:bodyPr>
          <a:lstStyle>
            <a:lvl1pPr marL="0" indent="0" algn="ctr">
              <a:spcAft>
                <a:spcPts val="600"/>
              </a:spcAft>
              <a:buNone/>
              <a:defRPr sz="2400">
                <a:solidFill>
                  <a:schemeClr val="tx2"/>
                </a:solidFill>
              </a:defRPr>
            </a:lvl1pPr>
            <a:lvl2pPr marL="2286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2pPr>
            <a:lvl3pPr marL="4572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3pPr>
            <a:lvl4pPr marL="6858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4pPr>
            <a:lvl5pPr marL="9144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667425-5376-9A12-6412-4B63AC528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CB2DD8-1852-5728-5E46-28CF0864B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741730C-9E61-193C-BBD3-080BB8336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141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E62E882-4E93-85DF-DE0B-6F64263A3B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" y="0"/>
            <a:ext cx="12191999" cy="6858000"/>
          </a:xfrm>
          <a:custGeom>
            <a:avLst/>
            <a:gdLst>
              <a:gd name="connsiteX0" fmla="*/ 9664698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9664698 w 12191999"/>
              <a:gd name="connsiteY3" fmla="*/ 6858000 h 6858000"/>
              <a:gd name="connsiteX4" fmla="*/ 0 w 12191999"/>
              <a:gd name="connsiteY4" fmla="*/ 0 h 6858000"/>
              <a:gd name="connsiteX5" fmla="*/ 2551176 w 12191999"/>
              <a:gd name="connsiteY5" fmla="*/ 0 h 6858000"/>
              <a:gd name="connsiteX6" fmla="*/ 2551176 w 12191999"/>
              <a:gd name="connsiteY6" fmla="*/ 6858000 h 6858000"/>
              <a:gd name="connsiteX7" fmla="*/ 0 w 121919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858000">
                <a:moveTo>
                  <a:pt x="9664698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9664698" y="6858000"/>
                </a:lnTo>
                <a:close/>
                <a:moveTo>
                  <a:pt x="0" y="0"/>
                </a:moveTo>
                <a:lnTo>
                  <a:pt x="2551176" y="0"/>
                </a:lnTo>
                <a:lnTo>
                  <a:pt x="2551176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7301" y="1747287"/>
            <a:ext cx="7156415" cy="3363427"/>
          </a:xfrm>
        </p:spPr>
        <p:txBody>
          <a:bodyPr tIns="0" bIns="0" anchor="ctr">
            <a:noAutofit/>
          </a:bodyPr>
          <a:lstStyle>
            <a:lvl1pPr algn="ctr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54760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FCB7CBB1-8DA1-E416-2554-28C331D0A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47888"/>
          <a:stretch/>
        </p:blipFill>
        <p:spPr>
          <a:xfrm rot="16200000">
            <a:off x="6976110" y="1642110"/>
            <a:ext cx="6858000" cy="357378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E442E8B-94A4-D6CF-E77C-A046400CB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47888"/>
          <a:stretch/>
        </p:blipFill>
        <p:spPr>
          <a:xfrm rot="5400000">
            <a:off x="-1718310" y="1646872"/>
            <a:ext cx="6858000" cy="357378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294B31B-4290-C588-1212-26E6B428F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628E6D-0C29-7F8E-67C4-175F211E7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D0695C-2845-A017-44FF-AC8172007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4F8C32-8C97-2BA7-D756-712EEDF14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683717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53929D-82C0-204B-3528-E111E5608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683717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68DE2F-0A5F-60BA-E2A6-247EF7CB8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517792" y="1543050"/>
            <a:ext cx="7165925" cy="3771900"/>
            <a:chOff x="2517792" y="1651000"/>
            <a:chExt cx="7165925" cy="37719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2DE19A1-6F20-44CE-16E6-E01C080DB71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27301" y="16510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A302056-7C77-84A9-00C4-C936CDB0EC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17792" y="54229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7301" y="1786422"/>
            <a:ext cx="7156415" cy="2260117"/>
          </a:xfrm>
        </p:spPr>
        <p:txBody>
          <a:bodyPr tIns="0" bIns="0" anchor="b">
            <a:noAutofit/>
          </a:bodyPr>
          <a:lstStyle>
            <a:lvl1pPr algn="ctr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C0E72D9-C2D7-3452-FBEB-5506D32118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27299" y="4145100"/>
            <a:ext cx="7137395" cy="73501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88264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6617646-6AF6-94B0-E660-98BCAC61F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4405568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552D2-6E8F-FBA4-5AAD-121E6FDF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07AAD3-3E7E-4AA4-9B8A-E76C79C5D0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51400" y="892175"/>
            <a:ext cx="6617592" cy="5073650"/>
          </a:xfrm>
          <a:effectLst/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2pPr>
            <a:lvl3pPr marL="4572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3pPr>
            <a:lvl4pPr marL="6858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4pPr>
            <a:lvl5pPr marL="9144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667425-5376-9A12-6412-4B63AC528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CB2DD8-1852-5728-5E46-28CF0864B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741730C-9E61-193C-BBD3-080BB8336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816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177A207-9B85-52B8-8ED0-3616C76742A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3086100 h 6858000"/>
              <a:gd name="connsiteX1" fmla="*/ 4375405 w 12192000"/>
              <a:gd name="connsiteY1" fmla="*/ 6858000 h 6858000"/>
              <a:gd name="connsiteX2" fmla="*/ 0 w 12192000"/>
              <a:gd name="connsiteY2" fmla="*/ 6858000 h 6858000"/>
              <a:gd name="connsiteX3" fmla="*/ 7816598 w 12192000"/>
              <a:gd name="connsiteY3" fmla="*/ 0 h 6858000"/>
              <a:gd name="connsiteX4" fmla="*/ 12192000 w 12192000"/>
              <a:gd name="connsiteY4" fmla="*/ 0 h 6858000"/>
              <a:gd name="connsiteX5" fmla="*/ 12192000 w 12192000"/>
              <a:gd name="connsiteY5" fmla="*/ 37718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3086100"/>
                </a:moveTo>
                <a:lnTo>
                  <a:pt x="4375405" y="6858000"/>
                </a:lnTo>
                <a:lnTo>
                  <a:pt x="0" y="6858000"/>
                </a:lnTo>
                <a:close/>
                <a:moveTo>
                  <a:pt x="7816598" y="0"/>
                </a:moveTo>
                <a:lnTo>
                  <a:pt x="12192000" y="0"/>
                </a:lnTo>
                <a:lnTo>
                  <a:pt x="12192000" y="377189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7301" y="1786421"/>
            <a:ext cx="7156415" cy="2258568"/>
          </a:xfrm>
        </p:spPr>
        <p:txBody>
          <a:bodyPr tIns="0" bIns="0" anchor="b">
            <a:noAutofit/>
          </a:bodyPr>
          <a:lstStyle>
            <a:lvl1pPr algn="ctr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45489-5B17-0977-F512-70D9A108715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27299" y="4142232"/>
            <a:ext cx="7156415" cy="73501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06157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45346F93-664A-16A2-A824-FBB5F60B0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987468" cy="6858000"/>
          </a:xfrm>
          <a:custGeom>
            <a:avLst/>
            <a:gdLst>
              <a:gd name="connsiteX0" fmla="*/ 0 w 3987468"/>
              <a:gd name="connsiteY0" fmla="*/ 0 h 6858000"/>
              <a:gd name="connsiteX1" fmla="*/ 2450595 w 3987468"/>
              <a:gd name="connsiteY1" fmla="*/ 0 h 6858000"/>
              <a:gd name="connsiteX2" fmla="*/ 2774950 w 3987468"/>
              <a:gd name="connsiteY2" fmla="*/ 0 h 6858000"/>
              <a:gd name="connsiteX3" fmla="*/ 3146901 w 3987468"/>
              <a:gd name="connsiteY3" fmla="*/ 0 h 6858000"/>
              <a:gd name="connsiteX4" fmla="*/ 3152237 w 3987468"/>
              <a:gd name="connsiteY4" fmla="*/ 1372 h 6858000"/>
              <a:gd name="connsiteX5" fmla="*/ 3987468 w 3987468"/>
              <a:gd name="connsiteY5" fmla="*/ 1136650 h 6858000"/>
              <a:gd name="connsiteX6" fmla="*/ 3261452 w 3987468"/>
              <a:gd name="connsiteY6" fmla="*/ 2231955 h 6858000"/>
              <a:gd name="connsiteX7" fmla="*/ 3097572 w 3987468"/>
              <a:gd name="connsiteY7" fmla="*/ 2282826 h 6858000"/>
              <a:gd name="connsiteX8" fmla="*/ 3261452 w 3987468"/>
              <a:gd name="connsiteY8" fmla="*/ 2333697 h 6858000"/>
              <a:gd name="connsiteX9" fmla="*/ 3987468 w 3987468"/>
              <a:gd name="connsiteY9" fmla="*/ 3429001 h 6858000"/>
              <a:gd name="connsiteX10" fmla="*/ 3261452 w 3987468"/>
              <a:gd name="connsiteY10" fmla="*/ 4524306 h 6858000"/>
              <a:gd name="connsiteX11" fmla="*/ 3097574 w 3987468"/>
              <a:gd name="connsiteY11" fmla="*/ 4575176 h 6858000"/>
              <a:gd name="connsiteX12" fmla="*/ 3261452 w 3987468"/>
              <a:gd name="connsiteY12" fmla="*/ 4626047 h 6858000"/>
              <a:gd name="connsiteX13" fmla="*/ 3987468 w 3987468"/>
              <a:gd name="connsiteY13" fmla="*/ 5721351 h 6858000"/>
              <a:gd name="connsiteX14" fmla="*/ 3152237 w 3987468"/>
              <a:gd name="connsiteY14" fmla="*/ 6856629 h 6858000"/>
              <a:gd name="connsiteX15" fmla="*/ 3146905 w 3987468"/>
              <a:gd name="connsiteY15" fmla="*/ 6858000 h 6858000"/>
              <a:gd name="connsiteX16" fmla="*/ 2774950 w 3987468"/>
              <a:gd name="connsiteY16" fmla="*/ 6858000 h 6858000"/>
              <a:gd name="connsiteX17" fmla="*/ 2450591 w 3987468"/>
              <a:gd name="connsiteY17" fmla="*/ 6858000 h 6858000"/>
              <a:gd name="connsiteX18" fmla="*/ 0 w 3987468"/>
              <a:gd name="connsiteY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987468" h="6858000">
                <a:moveTo>
                  <a:pt x="0" y="0"/>
                </a:moveTo>
                <a:lnTo>
                  <a:pt x="2450595" y="0"/>
                </a:lnTo>
                <a:lnTo>
                  <a:pt x="2774950" y="0"/>
                </a:lnTo>
                <a:lnTo>
                  <a:pt x="3146901" y="0"/>
                </a:lnTo>
                <a:lnTo>
                  <a:pt x="3152237" y="1372"/>
                </a:lnTo>
                <a:cubicBezTo>
                  <a:pt x="3636128" y="151878"/>
                  <a:pt x="3987468" y="603234"/>
                  <a:pt x="3987468" y="1136650"/>
                </a:cubicBezTo>
                <a:cubicBezTo>
                  <a:pt x="3987468" y="1629034"/>
                  <a:pt x="3688101" y="2051497"/>
                  <a:pt x="3261452" y="2231955"/>
                </a:cubicBezTo>
                <a:lnTo>
                  <a:pt x="3097572" y="2282826"/>
                </a:lnTo>
                <a:lnTo>
                  <a:pt x="3261452" y="2333697"/>
                </a:lnTo>
                <a:cubicBezTo>
                  <a:pt x="3688101" y="2514154"/>
                  <a:pt x="3987468" y="2936617"/>
                  <a:pt x="3987468" y="3429001"/>
                </a:cubicBezTo>
                <a:cubicBezTo>
                  <a:pt x="3987468" y="3921385"/>
                  <a:pt x="3688101" y="4343848"/>
                  <a:pt x="3261452" y="4524306"/>
                </a:cubicBezTo>
                <a:lnTo>
                  <a:pt x="3097574" y="4575176"/>
                </a:lnTo>
                <a:lnTo>
                  <a:pt x="3261452" y="4626047"/>
                </a:lnTo>
                <a:cubicBezTo>
                  <a:pt x="3688101" y="4806504"/>
                  <a:pt x="3987468" y="5228967"/>
                  <a:pt x="3987468" y="5721351"/>
                </a:cubicBezTo>
                <a:cubicBezTo>
                  <a:pt x="3987468" y="6254767"/>
                  <a:pt x="3636128" y="6706123"/>
                  <a:pt x="3152237" y="6856629"/>
                </a:cubicBezTo>
                <a:lnTo>
                  <a:pt x="3146905" y="6858000"/>
                </a:lnTo>
                <a:lnTo>
                  <a:pt x="2774950" y="6858000"/>
                </a:lnTo>
                <a:lnTo>
                  <a:pt x="245059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4769DB-2A07-BC51-5527-403CA838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8D0011-1BF5-77D1-D2AC-ABFFC212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B36471-5251-E878-F044-38C6E40BC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8AEBCDBA-FCC7-7DE8-DA64-AEF047502A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3CC93403-272F-4058-38E7-95034FA1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6D26F94-DE81-6530-E728-ABDCC088359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465411" y="765810"/>
            <a:ext cx="7029933" cy="2471470"/>
          </a:xfrm>
        </p:spPr>
        <p:txBody>
          <a:bodyPr>
            <a:normAutofit/>
          </a:bodyPr>
          <a:lstStyle>
            <a:lvl1pPr marL="0" indent="0"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>
              <a:spcAft>
                <a:spcPts val="600"/>
              </a:spcAft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1"/>
            <a:endParaRPr lang="en-US" dirty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AFFC2B28-B6DF-BDF7-16A8-28ECC1D9921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5411" y="3599130"/>
            <a:ext cx="7029933" cy="2471470"/>
          </a:xfrm>
        </p:spPr>
        <p:txBody>
          <a:bodyPr>
            <a:normAutofit/>
          </a:bodyPr>
          <a:lstStyle>
            <a:lvl1pPr marL="0" indent="0"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>
              <a:spcAft>
                <a:spcPts val="600"/>
              </a:spcAft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033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06B8E3C-9527-FBC2-184C-8D90C45209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29052"/>
            <a:ext cx="3634741" cy="6949440"/>
          </a:xfrm>
          <a:custGeom>
            <a:avLst/>
            <a:gdLst>
              <a:gd name="connsiteX0" fmla="*/ 160021 w 3634741"/>
              <a:gd name="connsiteY0" fmla="*/ 0 h 6949440"/>
              <a:gd name="connsiteX1" fmla="*/ 3634741 w 3634741"/>
              <a:gd name="connsiteY1" fmla="*/ 3474720 h 6949440"/>
              <a:gd name="connsiteX2" fmla="*/ 160021 w 3634741"/>
              <a:gd name="connsiteY2" fmla="*/ 6949440 h 6949440"/>
              <a:gd name="connsiteX3" fmla="*/ 0 w 3634741"/>
              <a:gd name="connsiteY3" fmla="*/ 6941360 h 6949440"/>
              <a:gd name="connsiteX4" fmla="*/ 0 w 3634741"/>
              <a:gd name="connsiteY4" fmla="*/ 8081 h 694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4741" h="6949440">
                <a:moveTo>
                  <a:pt x="160021" y="0"/>
                </a:moveTo>
                <a:cubicBezTo>
                  <a:pt x="2079056" y="0"/>
                  <a:pt x="3634741" y="1555685"/>
                  <a:pt x="3634741" y="3474720"/>
                </a:cubicBezTo>
                <a:cubicBezTo>
                  <a:pt x="3634741" y="5393755"/>
                  <a:pt x="2079056" y="6949440"/>
                  <a:pt x="160021" y="6949440"/>
                </a:cubicBezTo>
                <a:lnTo>
                  <a:pt x="0" y="6941360"/>
                </a:lnTo>
                <a:lnTo>
                  <a:pt x="0" y="8081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4769DB-2A07-BC51-5527-403CA838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8D0011-1BF5-77D1-D2AC-ABFFC212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B36471-5251-E878-F044-38C6E40BC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8AEBCDBA-FCC7-7DE8-DA64-AEF047502A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3CC93403-272F-4058-38E7-95034FA1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6D26F94-DE81-6530-E728-ABDCC088359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80572" y="1483837"/>
            <a:ext cx="2929829" cy="3890326"/>
          </a:xfrm>
        </p:spPr>
        <p:txBody>
          <a:bodyPr>
            <a:normAutofit/>
          </a:bodyPr>
          <a:lstStyle>
            <a:lvl1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5143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1"/>
            <a:endParaRPr lang="en-US" dirty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AFFC2B28-B6DF-BDF7-16A8-28ECC1D9921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261226" y="1483837"/>
            <a:ext cx="4234117" cy="3890326"/>
          </a:xfrm>
        </p:spPr>
        <p:txBody>
          <a:bodyPr>
            <a:norm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1pPr>
            <a:lvl2pPr marL="283464" indent="-283464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450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D9E1A91-D555-1AE6-2CDF-324AF09F2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29052"/>
            <a:ext cx="3634741" cy="6949440"/>
          </a:xfrm>
          <a:custGeom>
            <a:avLst/>
            <a:gdLst>
              <a:gd name="connsiteX0" fmla="*/ 160021 w 3634741"/>
              <a:gd name="connsiteY0" fmla="*/ 0 h 6949440"/>
              <a:gd name="connsiteX1" fmla="*/ 3634741 w 3634741"/>
              <a:gd name="connsiteY1" fmla="*/ 3474720 h 6949440"/>
              <a:gd name="connsiteX2" fmla="*/ 160021 w 3634741"/>
              <a:gd name="connsiteY2" fmla="*/ 6949440 h 6949440"/>
              <a:gd name="connsiteX3" fmla="*/ 0 w 3634741"/>
              <a:gd name="connsiteY3" fmla="*/ 6941360 h 6949440"/>
              <a:gd name="connsiteX4" fmla="*/ 0 w 3634741"/>
              <a:gd name="connsiteY4" fmla="*/ 8081 h 694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4741" h="6949440">
                <a:moveTo>
                  <a:pt x="160021" y="0"/>
                </a:moveTo>
                <a:cubicBezTo>
                  <a:pt x="2079056" y="0"/>
                  <a:pt x="3634741" y="1555685"/>
                  <a:pt x="3634741" y="3474720"/>
                </a:cubicBezTo>
                <a:cubicBezTo>
                  <a:pt x="3634741" y="5393755"/>
                  <a:pt x="2079056" y="6949440"/>
                  <a:pt x="160021" y="6949440"/>
                </a:cubicBezTo>
                <a:lnTo>
                  <a:pt x="0" y="6941360"/>
                </a:lnTo>
                <a:lnTo>
                  <a:pt x="0" y="8081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552D2-6E8F-FBA4-5AAD-121E6FDF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07AAD3-3E7E-4AA4-9B8A-E76C79C5D0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08481" y="892176"/>
            <a:ext cx="4578319" cy="5073648"/>
          </a:xfrm>
          <a:effectLst/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2pPr>
            <a:lvl3pPr marL="4572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3pPr>
            <a:lvl4pPr marL="6858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4pPr>
            <a:lvl5pPr marL="9144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E6FE2D-89F6-4F06-E60F-5C1CB044DC5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42400" y="892176"/>
            <a:ext cx="2430462" cy="507364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667425-5376-9A12-6412-4B63AC528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CB2DD8-1852-5728-5E46-28CF0864B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741730C-9E61-193C-BBD3-080BB8336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814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96BC47-DB6B-4A01-6575-4D14CAEB3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4405568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4769DB-2A07-BC51-5527-403CA838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8D0011-1BF5-77D1-D2AC-ABFFC212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B36471-5251-E878-F044-38C6E40BC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8AEBCDBA-FCC7-7DE8-DA64-AEF047502A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3CC93403-272F-4058-38E7-95034FA1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6D26F94-DE81-6530-E728-ABDCC088359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851400" y="586740"/>
            <a:ext cx="6643944" cy="1653540"/>
          </a:xfrm>
        </p:spPr>
        <p:txBody>
          <a:bodyPr anchor="ctr">
            <a:normAutofit/>
          </a:bodyPr>
          <a:lstStyle>
            <a:lvl1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228600" indent="0"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800"/>
            </a:lvl4pPr>
            <a:lvl5pPr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BE81C174-B581-A6F3-A3B5-8072C0050E9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851400" y="2495074"/>
            <a:ext cx="6643944" cy="3776186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646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1287CC22-A7CC-E0D0-F44E-BA217E882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502400" cy="6858000"/>
          </a:xfrm>
          <a:prstGeom prst="rt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4769DB-2A07-BC51-5527-403CA838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8D0011-1BF5-77D1-D2AC-ABFFC212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B36471-5251-E878-F044-38C6E40BC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8AEBCDBA-FCC7-7DE8-DA64-AEF047502A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3CC93403-272F-4058-38E7-95034FA1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AFFC2B28-B6DF-BDF7-16A8-28ECC1D9921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305842" y="867412"/>
            <a:ext cx="3196558" cy="5123178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1800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1"/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6D26F94-DE81-6530-E728-ABDCC088359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753224" y="867412"/>
            <a:ext cx="4742119" cy="5123178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1800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2513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AFFC437-DF02-7776-8224-91AD11D74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05238" y="-4"/>
            <a:ext cx="78676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767E2A-FC6B-2D96-EF20-768A6E8BB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063238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1A79F2D-2D69-D1C7-FD7D-70C2EAE420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405BE07A-FC17-07E2-4E28-5883FC2CA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6D408C-2A4E-CEE1-5980-F9BC89383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4E622ED-3DA5-D5E9-B688-B2000E522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F1677B7-A20C-1A5D-301E-5B7DCAF1B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A6AD29FD-92CC-65CC-1E8B-437A1E59A58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489960" y="892175"/>
            <a:ext cx="7482839" cy="5073650"/>
          </a:xfrm>
          <a:effectLst/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1pPr>
            <a:lvl2pPr marL="22860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2pPr>
            <a:lvl3pPr marL="45720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3pPr>
            <a:lvl4pPr marL="68580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4pPr>
            <a:lvl5pPr marL="91440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5813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392207A-D227-5650-4C58-FA396957B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5"/>
            <a:ext cx="1445866" cy="6858000"/>
          </a:xfrm>
          <a:custGeom>
            <a:avLst/>
            <a:gdLst>
              <a:gd name="connsiteX0" fmla="*/ 605303 w 1445866"/>
              <a:gd name="connsiteY0" fmla="*/ 6858000 h 6858000"/>
              <a:gd name="connsiteX1" fmla="*/ 233348 w 1445866"/>
              <a:gd name="connsiteY1" fmla="*/ 6858000 h 6858000"/>
              <a:gd name="connsiteX2" fmla="*/ 0 w 1445866"/>
              <a:gd name="connsiteY2" fmla="*/ 6858000 h 6858000"/>
              <a:gd name="connsiteX3" fmla="*/ 0 w 1445866"/>
              <a:gd name="connsiteY3" fmla="*/ 0 h 6858000"/>
              <a:gd name="connsiteX4" fmla="*/ 233348 w 1445866"/>
              <a:gd name="connsiteY4" fmla="*/ 0 h 6858000"/>
              <a:gd name="connsiteX5" fmla="*/ 605299 w 1445866"/>
              <a:gd name="connsiteY5" fmla="*/ 0 h 6858000"/>
              <a:gd name="connsiteX6" fmla="*/ 610635 w 1445866"/>
              <a:gd name="connsiteY6" fmla="*/ 1372 h 6858000"/>
              <a:gd name="connsiteX7" fmla="*/ 1445866 w 1445866"/>
              <a:gd name="connsiteY7" fmla="*/ 1136650 h 6858000"/>
              <a:gd name="connsiteX8" fmla="*/ 719850 w 1445866"/>
              <a:gd name="connsiteY8" fmla="*/ 2231955 h 6858000"/>
              <a:gd name="connsiteX9" fmla="*/ 555970 w 1445866"/>
              <a:gd name="connsiteY9" fmla="*/ 2282826 h 6858000"/>
              <a:gd name="connsiteX10" fmla="*/ 719850 w 1445866"/>
              <a:gd name="connsiteY10" fmla="*/ 2333697 h 6858000"/>
              <a:gd name="connsiteX11" fmla="*/ 1445866 w 1445866"/>
              <a:gd name="connsiteY11" fmla="*/ 3429001 h 6858000"/>
              <a:gd name="connsiteX12" fmla="*/ 719850 w 1445866"/>
              <a:gd name="connsiteY12" fmla="*/ 4524306 h 6858000"/>
              <a:gd name="connsiteX13" fmla="*/ 555972 w 1445866"/>
              <a:gd name="connsiteY13" fmla="*/ 4575176 h 6858000"/>
              <a:gd name="connsiteX14" fmla="*/ 719850 w 1445866"/>
              <a:gd name="connsiteY14" fmla="*/ 4626047 h 6858000"/>
              <a:gd name="connsiteX15" fmla="*/ 1445866 w 1445866"/>
              <a:gd name="connsiteY15" fmla="*/ 5721351 h 6858000"/>
              <a:gd name="connsiteX16" fmla="*/ 610635 w 1445866"/>
              <a:gd name="connsiteY16" fmla="*/ 685662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445866" h="6858000">
                <a:moveTo>
                  <a:pt x="605303" y="6858000"/>
                </a:moveTo>
                <a:lnTo>
                  <a:pt x="233348" y="6858000"/>
                </a:lnTo>
                <a:lnTo>
                  <a:pt x="0" y="6858000"/>
                </a:lnTo>
                <a:lnTo>
                  <a:pt x="0" y="0"/>
                </a:lnTo>
                <a:lnTo>
                  <a:pt x="233348" y="0"/>
                </a:lnTo>
                <a:lnTo>
                  <a:pt x="605299" y="0"/>
                </a:lnTo>
                <a:lnTo>
                  <a:pt x="610635" y="1372"/>
                </a:lnTo>
                <a:cubicBezTo>
                  <a:pt x="1094526" y="151878"/>
                  <a:pt x="1445866" y="603234"/>
                  <a:pt x="1445866" y="1136650"/>
                </a:cubicBezTo>
                <a:cubicBezTo>
                  <a:pt x="1445866" y="1629034"/>
                  <a:pt x="1146499" y="2051497"/>
                  <a:pt x="719850" y="2231955"/>
                </a:cubicBezTo>
                <a:lnTo>
                  <a:pt x="555970" y="2282826"/>
                </a:lnTo>
                <a:lnTo>
                  <a:pt x="719850" y="2333697"/>
                </a:lnTo>
                <a:cubicBezTo>
                  <a:pt x="1146499" y="2514154"/>
                  <a:pt x="1445866" y="2936617"/>
                  <a:pt x="1445866" y="3429001"/>
                </a:cubicBezTo>
                <a:cubicBezTo>
                  <a:pt x="1445866" y="3921385"/>
                  <a:pt x="1146499" y="4343848"/>
                  <a:pt x="719850" y="4524306"/>
                </a:cubicBezTo>
                <a:lnTo>
                  <a:pt x="555972" y="4575176"/>
                </a:lnTo>
                <a:lnTo>
                  <a:pt x="719850" y="4626047"/>
                </a:lnTo>
                <a:cubicBezTo>
                  <a:pt x="1146499" y="4806504"/>
                  <a:pt x="1445866" y="5228967"/>
                  <a:pt x="1445866" y="5721351"/>
                </a:cubicBezTo>
                <a:cubicBezTo>
                  <a:pt x="1445866" y="6254767"/>
                  <a:pt x="1094526" y="6706123"/>
                  <a:pt x="610635" y="6856629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23BCBAF-4668-B2E6-7681-7E02428B4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746134" y="-4"/>
            <a:ext cx="1445866" cy="6858000"/>
          </a:xfrm>
          <a:custGeom>
            <a:avLst/>
            <a:gdLst>
              <a:gd name="connsiteX0" fmla="*/ 605303 w 1445866"/>
              <a:gd name="connsiteY0" fmla="*/ 6858000 h 6858000"/>
              <a:gd name="connsiteX1" fmla="*/ 233348 w 1445866"/>
              <a:gd name="connsiteY1" fmla="*/ 6858000 h 6858000"/>
              <a:gd name="connsiteX2" fmla="*/ 0 w 1445866"/>
              <a:gd name="connsiteY2" fmla="*/ 6858000 h 6858000"/>
              <a:gd name="connsiteX3" fmla="*/ 0 w 1445866"/>
              <a:gd name="connsiteY3" fmla="*/ 0 h 6858000"/>
              <a:gd name="connsiteX4" fmla="*/ 233348 w 1445866"/>
              <a:gd name="connsiteY4" fmla="*/ 0 h 6858000"/>
              <a:gd name="connsiteX5" fmla="*/ 605299 w 1445866"/>
              <a:gd name="connsiteY5" fmla="*/ 0 h 6858000"/>
              <a:gd name="connsiteX6" fmla="*/ 610635 w 1445866"/>
              <a:gd name="connsiteY6" fmla="*/ 1372 h 6858000"/>
              <a:gd name="connsiteX7" fmla="*/ 1445866 w 1445866"/>
              <a:gd name="connsiteY7" fmla="*/ 1136650 h 6858000"/>
              <a:gd name="connsiteX8" fmla="*/ 719850 w 1445866"/>
              <a:gd name="connsiteY8" fmla="*/ 2231955 h 6858000"/>
              <a:gd name="connsiteX9" fmla="*/ 555970 w 1445866"/>
              <a:gd name="connsiteY9" fmla="*/ 2282826 h 6858000"/>
              <a:gd name="connsiteX10" fmla="*/ 719850 w 1445866"/>
              <a:gd name="connsiteY10" fmla="*/ 2333697 h 6858000"/>
              <a:gd name="connsiteX11" fmla="*/ 1445866 w 1445866"/>
              <a:gd name="connsiteY11" fmla="*/ 3429001 h 6858000"/>
              <a:gd name="connsiteX12" fmla="*/ 719850 w 1445866"/>
              <a:gd name="connsiteY12" fmla="*/ 4524306 h 6858000"/>
              <a:gd name="connsiteX13" fmla="*/ 555972 w 1445866"/>
              <a:gd name="connsiteY13" fmla="*/ 4575176 h 6858000"/>
              <a:gd name="connsiteX14" fmla="*/ 719850 w 1445866"/>
              <a:gd name="connsiteY14" fmla="*/ 4626047 h 6858000"/>
              <a:gd name="connsiteX15" fmla="*/ 1445866 w 1445866"/>
              <a:gd name="connsiteY15" fmla="*/ 5721351 h 6858000"/>
              <a:gd name="connsiteX16" fmla="*/ 610635 w 1445866"/>
              <a:gd name="connsiteY16" fmla="*/ 685662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445866" h="6858000">
                <a:moveTo>
                  <a:pt x="605303" y="6858000"/>
                </a:moveTo>
                <a:lnTo>
                  <a:pt x="233348" y="6858000"/>
                </a:lnTo>
                <a:lnTo>
                  <a:pt x="0" y="6858000"/>
                </a:lnTo>
                <a:lnTo>
                  <a:pt x="0" y="0"/>
                </a:lnTo>
                <a:lnTo>
                  <a:pt x="233348" y="0"/>
                </a:lnTo>
                <a:lnTo>
                  <a:pt x="605299" y="0"/>
                </a:lnTo>
                <a:lnTo>
                  <a:pt x="610635" y="1372"/>
                </a:lnTo>
                <a:cubicBezTo>
                  <a:pt x="1094526" y="151878"/>
                  <a:pt x="1445866" y="603234"/>
                  <a:pt x="1445866" y="1136650"/>
                </a:cubicBezTo>
                <a:cubicBezTo>
                  <a:pt x="1445866" y="1629034"/>
                  <a:pt x="1146499" y="2051497"/>
                  <a:pt x="719850" y="2231955"/>
                </a:cubicBezTo>
                <a:lnTo>
                  <a:pt x="555970" y="2282826"/>
                </a:lnTo>
                <a:lnTo>
                  <a:pt x="719850" y="2333697"/>
                </a:lnTo>
                <a:cubicBezTo>
                  <a:pt x="1146499" y="2514154"/>
                  <a:pt x="1445866" y="2936617"/>
                  <a:pt x="1445866" y="3429001"/>
                </a:cubicBezTo>
                <a:cubicBezTo>
                  <a:pt x="1445866" y="3921385"/>
                  <a:pt x="1146499" y="4343848"/>
                  <a:pt x="719850" y="4524306"/>
                </a:cubicBezTo>
                <a:lnTo>
                  <a:pt x="555972" y="4575176"/>
                </a:lnTo>
                <a:lnTo>
                  <a:pt x="719850" y="4626047"/>
                </a:lnTo>
                <a:cubicBezTo>
                  <a:pt x="1146499" y="4806504"/>
                  <a:pt x="1445866" y="5228967"/>
                  <a:pt x="1445866" y="5721351"/>
                </a:cubicBezTo>
                <a:cubicBezTo>
                  <a:pt x="1445866" y="6254767"/>
                  <a:pt x="1094526" y="6706123"/>
                  <a:pt x="610635" y="6856629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94B31B-4290-C588-1212-26E6B428F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628E6D-0C29-7F8E-67C4-175F211E7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D0695C-2845-A017-44FF-AC8172007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4F8C32-8C97-2BA7-D756-712EEDF14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683717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53929D-82C0-204B-3528-E111E5608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683717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68DE2F-0A5F-60BA-E2A6-247EF7CB8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517792" y="1543050"/>
            <a:ext cx="7165925" cy="3771900"/>
            <a:chOff x="2517792" y="1651000"/>
            <a:chExt cx="7165925" cy="37719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2DE19A1-6F20-44CE-16E6-E01C080DB71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27301" y="16510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A302056-7C77-84A9-00C4-C936CDB0EC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17792" y="54229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7301" y="1786423"/>
            <a:ext cx="7156415" cy="1740548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3DD99B65-6C51-CA99-9872-6FD254075A8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521271" y="3670658"/>
            <a:ext cx="5149459" cy="1510939"/>
          </a:xfrm>
        </p:spPr>
        <p:txBody>
          <a:bodyPr lIns="182880">
            <a:no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228600" indent="0" algn="ctr">
              <a:buNone/>
              <a:defRPr sz="2000"/>
            </a:lvl2pPr>
            <a:lvl3pPr marL="457200" indent="0" algn="ctr">
              <a:buNone/>
              <a:defRPr sz="2000"/>
            </a:lvl3pPr>
            <a:lvl4pPr marL="685800" indent="0" algn="ctr">
              <a:buNone/>
              <a:defRPr sz="2000"/>
            </a:lvl4pPr>
            <a:lvl5pPr marL="914400" indent="0" algn="ctr"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1512516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noFill/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F9B8B6D2-5532-4B59-9C5A-AB106F128946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0" r:id="rId2"/>
    <p:sldLayoutId id="2147483747" r:id="rId3"/>
    <p:sldLayoutId id="2147483748" r:id="rId4"/>
    <p:sldLayoutId id="2147483708" r:id="rId5"/>
    <p:sldLayoutId id="2147483746" r:id="rId6"/>
    <p:sldLayoutId id="2147483725" r:id="rId7"/>
    <p:sldLayoutId id="2147483742" r:id="rId8"/>
    <p:sldLayoutId id="2147483736" r:id="rId9"/>
    <p:sldLayoutId id="2147483745" r:id="rId10"/>
    <p:sldLayoutId id="2147483741" r:id="rId11"/>
    <p:sldLayoutId id="2147483718" r:id="rId12"/>
    <p:sldLayoutId id="2147483737" r:id="rId13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D0423-92ED-41A8-B13E-ED2A99FC3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7301" y="1748633"/>
            <a:ext cx="7156415" cy="3360734"/>
          </a:xfrm>
          <a:noFill/>
          <a:ln w="38100" cap="sq">
            <a:noFill/>
            <a:miter lim="800000"/>
          </a:ln>
        </p:spPr>
        <p:txBody>
          <a:bodyPr lIns="0" rIns="0" anchor="ctr" anchorCtr="0">
            <a:normAutofit/>
          </a:bodyPr>
          <a:lstStyle/>
          <a:p>
            <a:r>
              <a:rPr lang="en-IN" dirty="0"/>
              <a:t>Student Spending </a:t>
            </a:r>
            <a:r>
              <a:rPr lang="en-IN" dirty="0" err="1"/>
              <a:t>Behavior</a:t>
            </a:r>
            <a:r>
              <a:rPr lang="en-IN" dirty="0"/>
              <a:t>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068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749423" y="2290758"/>
            <a:ext cx="6276974" cy="2276477"/>
          </a:xfrm>
        </p:spPr>
        <p:txBody>
          <a:bodyPr tIns="0" anchor="ctr">
            <a:noAutofit/>
          </a:bodyPr>
          <a:lstStyle/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7CFC7BA5-763A-6BCC-B176-BCB8F2B48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</p:spPr>
        <p:txBody>
          <a:bodyPr lIns="0"/>
          <a:lstStyle/>
          <a:p>
            <a:fld id="{8A7A6979-0714-4377-B894-6BE4C2D6E20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01729" y="744691"/>
            <a:ext cx="6823587" cy="50736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To analyze how students spend their money.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To identify major spending categories.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To understand saving habits.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784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Skyscrapers in city">
            <a:extLst>
              <a:ext uri="{FF2B5EF4-FFF2-40B4-BE49-F238E27FC236}">
                <a16:creationId xmlns:a16="http://schemas.microsoft.com/office/drawing/2014/main" id="{D0DCDC9B-472C-817C-9672-435D418D232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330" y="-152433"/>
            <a:ext cx="12191999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82" y="254793"/>
            <a:ext cx="7156415" cy="1288252"/>
          </a:xfrm>
        </p:spPr>
        <p:txBody>
          <a:bodyPr/>
          <a:lstStyle/>
          <a:p>
            <a:r>
              <a:rPr lang="en-IN" dirty="0"/>
              <a:t>Data Collection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D42DF4-FFE2-7AFF-4B36-222051AD8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0825" y="254794"/>
            <a:ext cx="11690350" cy="6367462"/>
            <a:chOff x="250825" y="254794"/>
            <a:chExt cx="11690350" cy="636746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294B31B-4290-C588-1212-26E6B428FD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50825" y="254794"/>
              <a:ext cx="11690350" cy="6348413"/>
            </a:xfrm>
            <a:prstGeom prst="rect">
              <a:avLst/>
            </a:prstGeom>
            <a:noFill/>
            <a:ln w="444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8628E6D-0C29-7F8E-67C4-175F211E7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2527301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5D0695C-2845-A017-44FF-AC817200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2527301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C4F8C32-8C97-2BA7-D756-712EEDF143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9683717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A53929D-82C0-204B-3528-E111E5608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9683717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C68DE2F-0A5F-60BA-E2A6-247EF7CB85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2517792" y="1543050"/>
              <a:ext cx="7165925" cy="3771900"/>
              <a:chOff x="2517792" y="1651000"/>
              <a:chExt cx="7165925" cy="3771900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D2DE19A1-6F20-44CE-16E6-E01C080DB71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27301" y="1651000"/>
                <a:ext cx="7156416" cy="0"/>
              </a:xfrm>
              <a:prstGeom prst="line">
                <a:avLst/>
              </a:prstGeom>
              <a:ln w="444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7A302056-7C77-84A9-00C4-C936CDB0EC1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17792" y="5422900"/>
                <a:ext cx="7156416" cy="0"/>
              </a:xfrm>
              <a:prstGeom prst="line">
                <a:avLst/>
              </a:prstGeom>
              <a:ln w="444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Rectangle 3">
            <a:extLst>
              <a:ext uri="{FF2B5EF4-FFF2-40B4-BE49-F238E27FC236}">
                <a16:creationId xmlns:a16="http://schemas.microsoft.com/office/drawing/2014/main" id="{121895C8-50FC-38BA-9B01-1A01D51E4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637" y="1588724"/>
            <a:ext cx="713738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collected using Google Forms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responses: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50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audience: Students</a:t>
            </a:r>
          </a:p>
        </p:txBody>
      </p:sp>
    </p:spTree>
    <p:extLst>
      <p:ext uri="{BB962C8B-B14F-4D97-AF65-F5344CB8AC3E}">
        <p14:creationId xmlns:p14="http://schemas.microsoft.com/office/powerpoint/2010/main" val="3446797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F1B74-463E-6BF4-A4C3-17EF7524B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D880591-96D8-8873-0D27-72BCCAB6B866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3305842" y="2136339"/>
            <a:ext cx="275107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Gender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Monthly allowance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Spending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Category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Savings 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C108955-9136-AB3F-7A23-55E6853354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53225" y="1199535"/>
            <a:ext cx="4927498" cy="324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856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792" y="304800"/>
            <a:ext cx="7156415" cy="1224681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5D2DE2C-2EA8-B8D8-CDAD-35C99E2437B3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 bwMode="auto">
          <a:xfrm>
            <a:off x="2724251" y="1684957"/>
            <a:ext cx="525175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Removed missing values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text (Food, UPI etc.)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Converted ranges into numerical values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Converted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Percentage data type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9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Colorful and highrise apartment blocks in the city">
            <a:extLst>
              <a:ext uri="{FF2B5EF4-FFF2-40B4-BE49-F238E27FC236}">
                <a16:creationId xmlns:a16="http://schemas.microsoft.com/office/drawing/2014/main" id="{46DCF626-D23F-1DB2-8526-F7FC9B057D44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82" y="235744"/>
            <a:ext cx="7156415" cy="1288255"/>
          </a:xfrm>
        </p:spPr>
        <p:txBody>
          <a:bodyPr/>
          <a:lstStyle/>
          <a:p>
            <a:r>
              <a:rPr lang="en-IN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(Pivot Tables)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A6D85-3837-435F-A342-5A3F98172B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08282" y="5715795"/>
            <a:ext cx="7156415" cy="7350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Used pivot tables to analyze data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BB78D97-71C1-B640-BA57-F260AA8B6A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0825" y="254794"/>
            <a:ext cx="11690350" cy="6367462"/>
            <a:chOff x="250825" y="254794"/>
            <a:chExt cx="11690350" cy="636746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294B31B-4290-C588-1212-26E6B428FD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50825" y="254794"/>
              <a:ext cx="11690350" cy="6348413"/>
            </a:xfrm>
            <a:prstGeom prst="rect">
              <a:avLst/>
            </a:prstGeom>
            <a:noFill/>
            <a:ln w="444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8628E6D-0C29-7F8E-67C4-175F211E7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2527301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5D0695C-2845-A017-44FF-AC817200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2527301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C4F8C32-8C97-2BA7-D756-712EEDF143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9683717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A53929D-82C0-204B-3528-E111E5608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9683717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C68DE2F-0A5F-60BA-E2A6-247EF7CB85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2517792" y="1543050"/>
              <a:ext cx="7165925" cy="3771900"/>
              <a:chOff x="2517792" y="1651000"/>
              <a:chExt cx="7165925" cy="3771900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D2DE19A1-6F20-44CE-16E6-E01C080DB71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27301" y="1651000"/>
                <a:ext cx="7156416" cy="0"/>
              </a:xfrm>
              <a:prstGeom prst="line">
                <a:avLst/>
              </a:prstGeom>
              <a:ln w="444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7A302056-7C77-84A9-00C4-C936CDB0EC1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17792" y="5422900"/>
                <a:ext cx="7156416" cy="0"/>
              </a:xfrm>
              <a:prstGeom prst="line">
                <a:avLst/>
              </a:prstGeom>
              <a:ln w="444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9DBB621-AB1A-42E7-2FB7-7080F19481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2741" y="1892020"/>
            <a:ext cx="6525536" cy="9145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0F2A82A-65C5-DB57-1C67-C26922295F0B}"/>
              </a:ext>
            </a:extLst>
          </p:cNvPr>
          <p:cNvSpPr txBox="1"/>
          <p:nvPr/>
        </p:nvSpPr>
        <p:spPr>
          <a:xfrm>
            <a:off x="2778127" y="1564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Saving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CE7A655-2436-9793-79A7-9C02FB85AE9D}"/>
              </a:ext>
            </a:extLst>
          </p:cNvPr>
          <p:cNvSpPr/>
          <p:nvPr/>
        </p:nvSpPr>
        <p:spPr>
          <a:xfrm>
            <a:off x="2585883" y="1664404"/>
            <a:ext cx="196640" cy="1742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accent4">
                  <a:lumMod val="75000"/>
                </a:schemeClr>
              </a:solidFill>
              <a:highlight>
                <a:srgbClr val="C0C0C0"/>
              </a:highlight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2AFF601-ECFD-2DC6-8739-6644E26120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4490" y="3136925"/>
            <a:ext cx="5632771" cy="914528"/>
          </a:xfrm>
          <a:prstGeom prst="rect">
            <a:avLst/>
          </a:prstGeom>
        </p:spPr>
      </p:pic>
      <p:sp>
        <p:nvSpPr>
          <p:cNvPr id="22" name="Arrow: Right 21">
            <a:extLst>
              <a:ext uri="{FF2B5EF4-FFF2-40B4-BE49-F238E27FC236}">
                <a16:creationId xmlns:a16="http://schemas.microsoft.com/office/drawing/2014/main" id="{48A24118-24CC-0E00-35AA-6076343D658E}"/>
              </a:ext>
            </a:extLst>
          </p:cNvPr>
          <p:cNvSpPr/>
          <p:nvPr/>
        </p:nvSpPr>
        <p:spPr>
          <a:xfrm>
            <a:off x="2590150" y="2907816"/>
            <a:ext cx="196640" cy="1742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accent4">
                  <a:lumMod val="75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EAEEFB-AE87-081B-C453-13D6102BBB55}"/>
              </a:ext>
            </a:extLst>
          </p:cNvPr>
          <p:cNvSpPr txBox="1"/>
          <p:nvPr/>
        </p:nvSpPr>
        <p:spPr>
          <a:xfrm>
            <a:off x="2786790" y="28123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Spending categories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353FA0C-4C6E-4850-31E1-9CD275342F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2741" y="4429938"/>
            <a:ext cx="4232796" cy="866896"/>
          </a:xfrm>
          <a:prstGeom prst="rect">
            <a:avLst/>
          </a:prstGeom>
        </p:spPr>
      </p:pic>
      <p:sp>
        <p:nvSpPr>
          <p:cNvPr id="27" name="Arrow: Right 26">
            <a:extLst>
              <a:ext uri="{FF2B5EF4-FFF2-40B4-BE49-F238E27FC236}">
                <a16:creationId xmlns:a16="http://schemas.microsoft.com/office/drawing/2014/main" id="{C7B84335-4978-A23D-B928-6E10F54D9F62}"/>
              </a:ext>
            </a:extLst>
          </p:cNvPr>
          <p:cNvSpPr/>
          <p:nvPr/>
        </p:nvSpPr>
        <p:spPr>
          <a:xfrm>
            <a:off x="2605412" y="4171313"/>
            <a:ext cx="196640" cy="1742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accent4">
                  <a:lumMod val="75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6FEDD835-C7FC-3FA8-6E7A-5AD004C43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1707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DA9922ED-CEB3-2B47-7DD5-0A62ABCA1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6790" y="3784599"/>
            <a:ext cx="278253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Payment methods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40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6B93B-078D-59DD-704B-E623F431AB0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2820783" y="680599"/>
            <a:ext cx="3845487" cy="51231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Spending category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3F6463-C975-047D-6DF1-69F0F3745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82721" y="680599"/>
            <a:ext cx="4742119" cy="51231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Allowance vs spending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C6BA1FF-2764-73D9-3C0C-7DE4D04681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098713"/>
              </p:ext>
            </p:extLst>
          </p:nvPr>
        </p:nvGraphicFramePr>
        <p:xfrm>
          <a:off x="2401811" y="255884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B1CD2F6-CFF9-E1B9-5A17-30ED7725C7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0541883"/>
              </p:ext>
            </p:extLst>
          </p:nvPr>
        </p:nvGraphicFramePr>
        <p:xfrm>
          <a:off x="6867780" y="229337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C5DB56-3038-9C93-1088-63D517D121A0}"/>
              </a:ext>
            </a:extLst>
          </p:cNvPr>
          <p:cNvCxnSpPr/>
          <p:nvPr/>
        </p:nvCxnSpPr>
        <p:spPr>
          <a:xfrm>
            <a:off x="6782721" y="344129"/>
            <a:ext cx="0" cy="617465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3496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279A185-29AC-2248-1DB7-97AC81F458D2}"/>
              </a:ext>
            </a:extLst>
          </p:cNvPr>
          <p:cNvSpPr txBox="1">
            <a:spLocks/>
          </p:cNvSpPr>
          <p:nvPr/>
        </p:nvSpPr>
        <p:spPr>
          <a:xfrm>
            <a:off x="5210022" y="975567"/>
            <a:ext cx="3845487" cy="51231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Payment method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CD25811-8B47-E4DC-D7E7-9E578396BB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3578063"/>
              </p:ext>
            </p:extLst>
          </p:nvPr>
        </p:nvGraphicFramePr>
        <p:xfrm>
          <a:off x="4846765" y="216555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9301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38CAB-DA10-6681-42A5-3B25343A3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1400" y="586740"/>
            <a:ext cx="6643944" cy="1497699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EEF7B18-F525-AD09-80EB-A6FF976E3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2942" y="2420487"/>
            <a:ext cx="504978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UPI is the most used payment method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Discounts influence spending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students don’t save money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students spent on food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548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14B25-65CE-3F27-9C6E-F115B25BF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6096" y="452126"/>
            <a:ext cx="6617591" cy="1406171"/>
          </a:xfrm>
        </p:spPr>
        <p:txBody>
          <a:bodyPr/>
          <a:lstStyle/>
          <a:p>
            <a:r>
              <a:rPr lang="en-IN" sz="3600" b="1" dirty="0"/>
              <a:t>Business Recommendations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453CC83-0360-C793-73F7-ED3374D3107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5470065" y="2434771"/>
            <a:ext cx="4258730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Food brands can target students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Offer discounts to attract users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Promote digital payments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Encourage saving awareness </a:t>
            </a:r>
          </a:p>
        </p:txBody>
      </p:sp>
    </p:spTree>
    <p:extLst>
      <p:ext uri="{BB962C8B-B14F-4D97-AF65-F5344CB8AC3E}">
        <p14:creationId xmlns:p14="http://schemas.microsoft.com/office/powerpoint/2010/main" val="3976259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800" y="282088"/>
            <a:ext cx="7156415" cy="1271409"/>
          </a:xfrm>
        </p:spPr>
        <p:txBody>
          <a:bodyPr anchor="ctr"/>
          <a:lstStyle/>
          <a:p>
            <a:r>
              <a:rPr lang="en-IN" dirty="0"/>
              <a:t>Conclusion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538094-1A89-417E-B5AF-AC9178E404D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21270" y="2399249"/>
            <a:ext cx="5149459" cy="1510939"/>
          </a:xfrm>
        </p:spPr>
        <p:txBody>
          <a:bodyPr/>
          <a:lstStyle/>
          <a:p>
            <a:pPr marL="342900" indent="-342900" algn="l">
              <a:buFont typeface="+mj-lt"/>
              <a:buAutoNum type="arabicPeriod"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analyzed student spending behavior 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Identified patterns and trends 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Provided useful business insights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596226_Win32_LW_V0" id="{9BD71EDD-469E-4D4E-A40A-B14F6807FCBA}" vid="{17CDA7A4-B369-430D-9DFB-4C96400196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316C43-4A17-4971-BB8F-F0F6B8CDF2E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5C14155-A57F-48FA-B253-A79CB6269DD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C2A85E2-5219-4B5F-9D52-D97CA94AAB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Fair frames presentation</Template>
  <TotalTime>82</TotalTime>
  <Words>193</Words>
  <Application>Microsoft Office PowerPoint</Application>
  <PresentationFormat>Widescreen</PresentationFormat>
  <Paragraphs>68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Gill Sans MT</vt:lpstr>
      <vt:lpstr>Times New Roman</vt:lpstr>
      <vt:lpstr>Parcel</vt:lpstr>
      <vt:lpstr>Student Spending Behavior Analysis</vt:lpstr>
      <vt:lpstr>Objective</vt:lpstr>
      <vt:lpstr>Data Collection</vt:lpstr>
      <vt:lpstr>Dataset Overview</vt:lpstr>
      <vt:lpstr>Data Cleaning</vt:lpstr>
      <vt:lpstr>Analysis (Pivot Tables)</vt:lpstr>
      <vt:lpstr>PowerPoint Presentation</vt:lpstr>
      <vt:lpstr>PowerPoint Presentation</vt:lpstr>
      <vt:lpstr>Key Insights </vt:lpstr>
      <vt:lpstr>Business Recommendations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Yadav</dc:creator>
  <cp:lastModifiedBy>Gaurav Yadav</cp:lastModifiedBy>
  <cp:revision>1</cp:revision>
  <dcterms:created xsi:type="dcterms:W3CDTF">2026-03-24T16:05:53Z</dcterms:created>
  <dcterms:modified xsi:type="dcterms:W3CDTF">2026-03-24T17:28:17Z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